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  <p:sldId id="336" r:id="rId81"/>
    <p:sldId id="337" r:id="rId82"/>
    <p:sldId id="338" r:id="rId83"/>
    <p:sldId id="339" r:id="rId84"/>
    <p:sldId id="340" r:id="rId85"/>
    <p:sldId id="341" r:id="rId86"/>
    <p:sldId id="342" r:id="rId87"/>
    <p:sldId id="343" r:id="rId88"/>
    <p:sldId id="344" r:id="rId89"/>
    <p:sldId id="345" r:id="rId90"/>
    <p:sldId id="346" r:id="rId91"/>
    <p:sldId id="347" r:id="rId92"/>
    <p:sldId id="348" r:id="rId93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viewProps" Target="viewProps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78BE-845D-3857-358D-A85FB597052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00F187-884C-3F2B-9053-C1891EA685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9243FD-6B69-1FA3-550B-20CEBA57C5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4BE90F-2332-F8FD-E415-30E76EFDE3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81A762A-F973-651C-64CA-4E7D831F8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728772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CB1F13-F3B9-95E7-ABEF-904277917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953AE10-DCCA-410A-1775-C8682E0495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D5CF21-A7F7-A4D5-9FA2-21709E0D2C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4F5D6D5-D961-C8E5-1960-BDA8A09611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D2E95DB-8ED3-8C3D-5250-DFF2C43DD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46078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1E5CF4-8D02-0E1F-60E1-F60D57CCF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F13707F-39E9-16D9-D13B-436BA75303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4C7AAF1-0603-1A55-ACBE-30947BC2E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ED662D0-959F-D5B1-7595-4915139D4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FC42F2-E5B7-DCE5-CC88-D4B1B8ACDC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784892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CD96CD-F9E8-CFE9-A109-F7218E443F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BCBBA6A-5AF5-9BF6-2412-7CDC5ACA7F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E6241A-54EE-1952-252D-627AB05627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55EC6D4-061E-CF26-8553-2479843AA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F7A57C-4867-AA9F-2965-8172FD3AD4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877B4FD-D271-90B7-1D83-29DD54A1D9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85041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1C761D-E38A-86EB-B070-020882906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EB78AC-A394-A41C-1893-621F017C89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D81D718-900B-DD94-38D3-977FE49D25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8087D9C-B1A5-A900-98B4-E72CB9524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BF9DF2F-3CA4-10B3-ABBD-11997A5EA9B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97E8CAD-A8AC-8A0C-2CA5-4DB7DB9B3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2D182FB-64EF-12FD-90B6-B9CE5912C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411E5BAA-9904-620A-1B84-596C02AB7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4807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B084C-7D1C-493C-BB40-40FA2348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B66D87D-369B-11F3-7F44-76979DE7D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5AF95452-F755-A613-5F9D-48E6988260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45AAAFC-84F4-5395-A980-061BFF22E5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081047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3DF326F-7665-C2D7-1B99-C77217CAF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B8BC7964-E793-B2F3-7FF7-0D66D38EBF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1ED9E9-12AC-E2BB-E545-75D873D4B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7319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10DE81-4C85-DE4D-891C-A830DA763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32F58C6-A0DE-0F84-2827-55B172CCE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D256C27-2E36-19F5-7668-355AB3D153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AAE15E9-652E-9337-1950-1E6F05DE54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0D6F6C5-CBB0-61C2-53DC-3151F8F9A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BB7902-9C05-E77B-814F-BB8768A14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51600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74D93A-1F48-93C7-92CA-DB71748ED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BA81D8F-C770-45C4-AD4C-56D5EF38FFC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4993F94-32EA-1E4E-DA2E-B6261E68C7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68CE04F-EEF9-2E7D-E07E-CBBDFC2380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4CE989E-01D2-8951-72F1-36382A2C5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3D42064-A822-E313-F4E2-8A4C0EB3E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46462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018AA6-2DB1-A393-9EBA-8BD0D2F63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CB52F74-57D0-698B-6504-793924BB9A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2DEC2AF-D30A-C422-1439-94BF119A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92B839-A7D4-FEA6-7BB6-6463C739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65CBEF2-668A-A45A-FC27-382E2D5F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865875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E1A3DF5-BB35-8C37-A609-8551132EFE6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43A2B26-D039-0DE6-5557-704C655B54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4B7BF1F-8500-D0BC-A31D-2BC9F00D67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86CDA95-5433-EEA0-0680-CDB61321C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4520AC-8371-86D8-712C-87CDADA3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5099024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763F208-072A-81F1-946E-5F9CCF710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44A1DC4-DD83-1240-51E1-8545B052B5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F6229F-FBDA-612E-760C-822EBCB195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2CCAAA-0F30-44FD-9005-D4E9496CA82E}" type="datetimeFigureOut">
              <a:rPr lang="es-CL" smtClean="0"/>
              <a:t>08-09-2025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A612E4-FA5C-6A13-E5B8-86A87608BEE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B13AAA0-AC76-02C8-363A-89C0AB8B14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5BD553B-F372-429A-9C96-B0B8299156B8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84250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47EAD6-6AB4-BD59-2BF3-408538FEDC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55260" y="1188637"/>
            <a:ext cx="5852711" cy="159722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33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Plataforma .NET: Framework/.NET CORE y Comparativa entre TS y C#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E1512438-D927-213A-0DDC-4F19FAFF24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357" y="1700588"/>
            <a:ext cx="3533985" cy="3533985"/>
          </a:xfrm>
          <a:prstGeom prst="rect">
            <a:avLst/>
          </a:prstGeom>
        </p:spPr>
      </p:pic>
      <p:sp>
        <p:nvSpPr>
          <p:cNvPr id="3" name="Subtítulo 2">
            <a:extLst>
              <a:ext uri="{FF2B5EF4-FFF2-40B4-BE49-F238E27FC236}">
                <a16:creationId xmlns:a16="http://schemas.microsoft.com/office/drawing/2014/main" id="{A8DCD5A4-8090-13D1-3DDD-DA696ACE227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55260" y="2998278"/>
            <a:ext cx="4428236" cy="27281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Unidad 02: </a:t>
            </a:r>
            <a:r>
              <a:rPr lang="en-US" sz="2000" b="1" i="0">
                <a:effectLst/>
              </a:rPr>
              <a:t>Diseño y Programación Orientada a Objetos</a:t>
            </a:r>
            <a:endParaRPr lang="en-US" sz="2000" b="0" i="0">
              <a:effectLst/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Fecha: Lunes 08 de Septiembre, 2025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Horario: 10:50 - 13:30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b="0" i="0">
                <a:effectLst/>
              </a:rPr>
              <a:t>Docente: Diego Obando</a:t>
            </a: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677411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7262C87B-205C-4719-AC60-AF13E94F1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322626"/>
            <a:ext cx="5772560" cy="6212748"/>
          </a:xfrm>
          <a:custGeom>
            <a:avLst/>
            <a:gdLst>
              <a:gd name="connsiteX0" fmla="*/ 0 w 5772560"/>
              <a:gd name="connsiteY0" fmla="*/ 0 h 6212748"/>
              <a:gd name="connsiteX1" fmla="*/ 1448661 w 5772560"/>
              <a:gd name="connsiteY1" fmla="*/ 0 h 6212748"/>
              <a:gd name="connsiteX2" fmla="*/ 1940557 w 5772560"/>
              <a:gd name="connsiteY2" fmla="*/ 0 h 6212748"/>
              <a:gd name="connsiteX3" fmla="*/ 5772560 w 5772560"/>
              <a:gd name="connsiteY3" fmla="*/ 0 h 6212748"/>
              <a:gd name="connsiteX4" fmla="*/ 5772560 w 5772560"/>
              <a:gd name="connsiteY4" fmla="*/ 2864954 h 6212748"/>
              <a:gd name="connsiteX5" fmla="*/ 2329115 w 5772560"/>
              <a:gd name="connsiteY5" fmla="*/ 6212748 h 6212748"/>
              <a:gd name="connsiteX6" fmla="*/ 1940557 w 5772560"/>
              <a:gd name="connsiteY6" fmla="*/ 6212748 h 6212748"/>
              <a:gd name="connsiteX7" fmla="*/ 1448661 w 5772560"/>
              <a:gd name="connsiteY7" fmla="*/ 6212748 h 6212748"/>
              <a:gd name="connsiteX8" fmla="*/ 0 w 5772560"/>
              <a:gd name="connsiteY8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2560" h="6212748">
                <a:moveTo>
                  <a:pt x="0" y="0"/>
                </a:moveTo>
                <a:lnTo>
                  <a:pt x="1448661" y="0"/>
                </a:lnTo>
                <a:lnTo>
                  <a:pt x="1940557" y="0"/>
                </a:lnTo>
                <a:lnTo>
                  <a:pt x="5772560" y="0"/>
                </a:lnTo>
                <a:lnTo>
                  <a:pt x="5772560" y="2864954"/>
                </a:lnTo>
                <a:lnTo>
                  <a:pt x="2329115" y="6212748"/>
                </a:lnTo>
                <a:lnTo>
                  <a:pt x="1940557" y="6212748"/>
                </a:lnTo>
                <a:lnTo>
                  <a:pt x="1448661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6" name="Right Triangle 15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31252E-94E7-8E9C-4BBC-CA39F1F025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246" y="1188637"/>
            <a:ext cx="4546725" cy="1642850"/>
          </a:xfrm>
        </p:spPr>
        <p:txBody>
          <a:bodyPr>
            <a:normAutofit/>
          </a:bodyPr>
          <a:lstStyle/>
          <a:p>
            <a:r>
              <a:rPr lang="es-CL" sz="5400" b="1" i="0">
                <a:effectLst/>
                <a:latin typeface="-apple-system"/>
              </a:rPr>
              <a:t>Fundamentos .NET</a:t>
            </a:r>
            <a:endParaRPr lang="es-CL" sz="5400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B5166936-6ACF-6709-EF42-BCD270E6EA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5240" y="1336782"/>
            <a:ext cx="4164244" cy="4164244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88C1B73-EFCA-B3C8-177C-8069E99B34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932" y="3086513"/>
            <a:ext cx="4731493" cy="2056508"/>
          </a:xfrm>
        </p:spPr>
        <p:txBody>
          <a:bodyPr anchor="t">
            <a:normAutofit/>
          </a:bodyPr>
          <a:lstStyle/>
          <a:p>
            <a:r>
              <a:rPr lang="es-ES" sz="2400" b="1" i="1" dirty="0">
                <a:effectLst/>
                <a:latin typeface="-apple-system"/>
              </a:rPr>
              <a:t>"¿Por qué Microsoft creó .NET si ya existían otros lenguajes de programación?"</a:t>
            </a:r>
            <a:endParaRPr lang="es-CL" sz="2400" b="1" dirty="0"/>
          </a:p>
        </p:txBody>
      </p:sp>
    </p:spTree>
    <p:extLst>
      <p:ext uri="{BB962C8B-B14F-4D97-AF65-F5344CB8AC3E}">
        <p14:creationId xmlns:p14="http://schemas.microsoft.com/office/powerpoint/2010/main" val="42152082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A913BB-0FA8-B813-B71B-675A59352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CL" b="1" i="0" dirty="0">
                <a:solidFill>
                  <a:srgbClr val="000000"/>
                </a:solidFill>
                <a:effectLst/>
                <a:latin typeface="-apple-system"/>
              </a:rPr>
              <a:t>📚 Contexto Histórico: La "Guerra de Plataformas" (1990s)</a:t>
            </a:r>
            <a:endParaRPr lang="es-CL" dirty="0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55DB4868-D211-40A3-3400-50C223E75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43200"/>
            <a:ext cx="12192000" cy="2131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6409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7262C87B-205C-4719-AC60-AF13E94F1F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95999" y="322626"/>
            <a:ext cx="5772560" cy="6212748"/>
          </a:xfrm>
          <a:custGeom>
            <a:avLst/>
            <a:gdLst>
              <a:gd name="connsiteX0" fmla="*/ 0 w 5772560"/>
              <a:gd name="connsiteY0" fmla="*/ 0 h 6212748"/>
              <a:gd name="connsiteX1" fmla="*/ 1448661 w 5772560"/>
              <a:gd name="connsiteY1" fmla="*/ 0 h 6212748"/>
              <a:gd name="connsiteX2" fmla="*/ 1940557 w 5772560"/>
              <a:gd name="connsiteY2" fmla="*/ 0 h 6212748"/>
              <a:gd name="connsiteX3" fmla="*/ 5772560 w 5772560"/>
              <a:gd name="connsiteY3" fmla="*/ 0 h 6212748"/>
              <a:gd name="connsiteX4" fmla="*/ 5772560 w 5772560"/>
              <a:gd name="connsiteY4" fmla="*/ 2864954 h 6212748"/>
              <a:gd name="connsiteX5" fmla="*/ 2329115 w 5772560"/>
              <a:gd name="connsiteY5" fmla="*/ 6212748 h 6212748"/>
              <a:gd name="connsiteX6" fmla="*/ 1940557 w 5772560"/>
              <a:gd name="connsiteY6" fmla="*/ 6212748 h 6212748"/>
              <a:gd name="connsiteX7" fmla="*/ 1448661 w 5772560"/>
              <a:gd name="connsiteY7" fmla="*/ 6212748 h 6212748"/>
              <a:gd name="connsiteX8" fmla="*/ 0 w 5772560"/>
              <a:gd name="connsiteY8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772560" h="6212748">
                <a:moveTo>
                  <a:pt x="0" y="0"/>
                </a:moveTo>
                <a:lnTo>
                  <a:pt x="1448661" y="0"/>
                </a:lnTo>
                <a:lnTo>
                  <a:pt x="1940557" y="0"/>
                </a:lnTo>
                <a:lnTo>
                  <a:pt x="5772560" y="0"/>
                </a:lnTo>
                <a:lnTo>
                  <a:pt x="5772560" y="2864954"/>
                </a:lnTo>
                <a:lnTo>
                  <a:pt x="2329115" y="6212748"/>
                </a:lnTo>
                <a:lnTo>
                  <a:pt x="1940557" y="6212748"/>
                </a:lnTo>
                <a:lnTo>
                  <a:pt x="1448661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B68E4F-E016-37FB-5A60-389F2BBF6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61246" y="1188637"/>
            <a:ext cx="4546725" cy="1642850"/>
          </a:xfrm>
        </p:spPr>
        <p:txBody>
          <a:bodyPr>
            <a:normAutofit/>
          </a:bodyPr>
          <a:lstStyle/>
          <a:p>
            <a:r>
              <a:rPr lang="es-ES" sz="3400" b="1" i="0">
                <a:effectLst/>
                <a:latin typeface="-apple-system"/>
              </a:rPr>
              <a:t>🥊 La Respuesta de Microsoft: .NET (2000)</a:t>
            </a:r>
            <a:endParaRPr lang="es-CL" sz="3400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CDACCDFF-BA38-739C-00D4-8EB1252E74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808" y="940009"/>
            <a:ext cx="5738582" cy="4791715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B3E0440-DA46-828D-EB42-4A2D3F583C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78932" y="3086513"/>
            <a:ext cx="3630543" cy="2056508"/>
          </a:xfrm>
        </p:spPr>
        <p:txBody>
          <a:bodyPr anchor="t">
            <a:normAutofit/>
          </a:bodyPr>
          <a:lstStyle/>
          <a:p>
            <a:r>
              <a:rPr lang="es-ES" sz="2000" b="1" i="0">
                <a:effectLst/>
                <a:latin typeface="-apple-system"/>
              </a:rPr>
              <a:t>🎯 Objetivo:</a:t>
            </a:r>
            <a:r>
              <a:rPr lang="es-ES" sz="2000" b="0" i="0">
                <a:effectLst/>
                <a:latin typeface="-apple-system"/>
              </a:rPr>
              <a:t> Crear una plataforma que compitiera directamente con Java, pero mejor integrada con Windows.</a:t>
            </a:r>
            <a:endParaRPr lang="es-CL" sz="2000"/>
          </a:p>
        </p:txBody>
      </p:sp>
    </p:spTree>
    <p:extLst>
      <p:ext uri="{BB962C8B-B14F-4D97-AF65-F5344CB8AC3E}">
        <p14:creationId xmlns:p14="http://schemas.microsoft.com/office/powerpoint/2010/main" val="2852202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44662" y="323519"/>
            <a:ext cx="4323899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Right Triangle 13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F0A0720-7477-C4AC-3E8D-B1F753C35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29293" y="806364"/>
            <a:ext cx="3354636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3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📊 Comparación Java vs .NET (Diseño Original)</a:t>
            </a:r>
            <a:endParaRPr lang="en-US" sz="33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A79686D-52D7-D1CB-D4A3-9A3A07D6D22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045" y="1800666"/>
            <a:ext cx="6799616" cy="30598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4088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0CB3D2-E5F6-B3DE-3A5D-75A3FA29F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CL" sz="5000" b="1" i="0">
                <a:effectLst/>
                <a:latin typeface="-apple-system"/>
              </a:rPr>
              <a:t>🎭 Las Estrategias Competitivas</a:t>
            </a:r>
            <a:endParaRPr lang="es-CL" sz="50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44B2C8-2036-B1C1-98FD-2A09C9D1DB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pPr>
              <a:buFont typeface="+mj-lt"/>
              <a:buAutoNum type="arabicPeriod"/>
            </a:pPr>
            <a:r>
              <a:rPr lang="es-CL" sz="2400" b="1" i="0">
                <a:effectLst/>
                <a:latin typeface="-apple-system"/>
              </a:rPr>
              <a:t>🗣️ Múltiples Lenguajes:</a:t>
            </a:r>
            <a:r>
              <a:rPr lang="es-CL" sz="2400" b="0" i="0">
                <a:effectLst/>
                <a:latin typeface="-apple-system"/>
              </a:rPr>
              <a:t> No solo C#, sino VB.NET, F#, etc.</a:t>
            </a:r>
          </a:p>
          <a:p>
            <a:pPr>
              <a:buFont typeface="+mj-lt"/>
              <a:buAutoNum type="arabicPeriod"/>
            </a:pPr>
            <a:r>
              <a:rPr lang="es-CL" sz="2400" b="1" i="0">
                <a:effectLst/>
                <a:latin typeface="-apple-system"/>
              </a:rPr>
              <a:t>🔗 Interoperabilidad:</a:t>
            </a:r>
            <a:r>
              <a:rPr lang="es-CL" sz="2400" b="0" i="0">
                <a:effectLst/>
                <a:latin typeface="-apple-system"/>
              </a:rPr>
              <a:t> Los lenguajes pueden trabajar juntos</a:t>
            </a:r>
          </a:p>
          <a:p>
            <a:pPr>
              <a:buFont typeface="+mj-lt"/>
              <a:buAutoNum type="arabicPeriod"/>
            </a:pPr>
            <a:r>
              <a:rPr lang="es-CL" sz="2400" b="1" i="0">
                <a:effectLst/>
                <a:latin typeface="-apple-system"/>
              </a:rPr>
              <a:t>🚀 Mejor Rendimiento:</a:t>
            </a:r>
            <a:r>
              <a:rPr lang="es-CL" sz="2400" b="0" i="0">
                <a:effectLst/>
                <a:latin typeface="-apple-system"/>
              </a:rPr>
              <a:t> CLR optimizado para Windows</a:t>
            </a:r>
          </a:p>
          <a:p>
            <a:pPr>
              <a:buFont typeface="+mj-lt"/>
              <a:buAutoNum type="arabicPeriod"/>
            </a:pPr>
            <a:r>
              <a:rPr lang="es-CL" sz="2400" b="1" i="0">
                <a:effectLst/>
                <a:latin typeface="-apple-system"/>
              </a:rPr>
              <a:t>🛠️ Mejores Herramientas:</a:t>
            </a:r>
            <a:r>
              <a:rPr lang="es-CL" sz="2400" b="0" i="0">
                <a:effectLst/>
                <a:latin typeface="-apple-system"/>
              </a:rPr>
              <a:t> Visual Studio vs herramientas Java de la época</a:t>
            </a:r>
          </a:p>
          <a:p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1068069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FFC689-C600-78BB-70A3-CF6E543A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000000"/>
                </a:solidFill>
                <a:effectLst/>
                <a:latin typeface="-apple-system"/>
              </a:rPr>
              <a:t>🕰️ </a:t>
            </a:r>
            <a:r>
              <a:rPr lang="pt-BR" b="1" i="0" dirty="0" err="1">
                <a:solidFill>
                  <a:srgbClr val="000000"/>
                </a:solidFill>
                <a:effectLst/>
                <a:latin typeface="-apple-system"/>
              </a:rPr>
              <a:t>Timeline</a:t>
            </a:r>
            <a:r>
              <a:rPr lang="pt-BR" b="1" i="0" dirty="0">
                <a:solidFill>
                  <a:srgbClr val="000000"/>
                </a:solidFill>
                <a:effectLst/>
                <a:latin typeface="-apple-system"/>
              </a:rPr>
              <a:t> Completo: Java </a:t>
            </a:r>
            <a:r>
              <a:rPr lang="pt-BR" b="1" i="0" dirty="0" err="1">
                <a:solidFill>
                  <a:srgbClr val="000000"/>
                </a:solidFill>
                <a:effectLst/>
                <a:latin typeface="-apple-system"/>
              </a:rPr>
              <a:t>vs</a:t>
            </a:r>
            <a:r>
              <a:rPr lang="pt-BR" b="1" i="0" dirty="0">
                <a:solidFill>
                  <a:srgbClr val="000000"/>
                </a:solidFill>
                <a:effectLst/>
                <a:latin typeface="-apple-system"/>
              </a:rPr>
              <a:t> .NET</a:t>
            </a:r>
            <a:endParaRPr lang="es-CL" dirty="0"/>
          </a:p>
        </p:txBody>
      </p:sp>
      <p:pic>
        <p:nvPicPr>
          <p:cNvPr id="5" name="Imagen 4" descr="Escala de tiempo&#10;&#10;Descripción generada automáticamente">
            <a:extLst>
              <a:ext uri="{FF2B5EF4-FFF2-40B4-BE49-F238E27FC236}">
                <a16:creationId xmlns:a16="http://schemas.microsoft.com/office/drawing/2014/main" id="{ECF7874C-0DF2-651F-6047-C41429D7ED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570" y="1690688"/>
            <a:ext cx="11526859" cy="4429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674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9A962599-99DC-DC44-8C99-8CD779B30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r>
              <a:rPr lang="es-CL" sz="3600" b="1" i="0" dirty="0">
                <a:effectLst/>
                <a:latin typeface="-apple-system"/>
              </a:rPr>
              <a:t>💡 Conceptos Clave Compartidos</a:t>
            </a:r>
            <a:endParaRPr lang="es-CL" sz="36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88DC4AD-513C-A22A-DE55-018486CB019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255260" y="1648870"/>
            <a:ext cx="4702848" cy="3560260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11109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r>
              <a:rPr kumimoji="0" lang="es-CL" altLang="es-CL" sz="20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Ambas plataformas introdujeron:</a:t>
            </a:r>
            <a:endParaRPr kumimoji="0" lang="es-CL" altLang="es-CL" sz="2000" b="0" i="0" u="none" strike="noStrike" cap="none" normalizeH="0" baseline="0">
              <a:ln>
                <a:noFill/>
              </a:ln>
              <a:effectLst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/>
              <a:tabLst/>
            </a:pPr>
            <a:r>
              <a:rPr kumimoji="0" lang="es-CL" altLang="es-CL" sz="20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🔄 Compilación en dos fases:</a:t>
            </a:r>
            <a:endParaRPr kumimoji="0" lang="es-CL" altLang="es-CL" sz="2000" b="0" i="0" u="none" strike="noStrike" cap="none" normalizeH="0" baseline="0">
              <a:ln>
                <a:noFill/>
              </a:ln>
              <a:effectLst/>
              <a:latin typeface="-apple-system"/>
            </a:endParaRP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Java: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.java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→ 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bytecode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→ JVM</a:t>
            </a:r>
          </a:p>
          <a:p>
            <a:pPr marL="457200" marR="0" lvl="1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0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.NET: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.cs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→ 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IL</a:t>
            </a:r>
            <a:r>
              <a:rPr kumimoji="0" lang="es-CL" altLang="es-CL" sz="20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→ CLR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2"/>
              <a:tabLst/>
            </a:pPr>
            <a:r>
              <a:rPr kumimoji="0" lang="es-CL" altLang="es-CL" sz="20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🗑️ Gestión automática de memoria (Garbage Collection)</a:t>
            </a:r>
            <a:endParaRPr kumimoji="0" lang="es-CL" altLang="es-CL" sz="2000" b="0" i="0" u="none" strike="noStrike" cap="none" normalizeH="0" baseline="0">
              <a:ln>
                <a:noFill/>
              </a:ln>
              <a:effectLst/>
              <a:latin typeface="-apple-system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3"/>
              <a:tabLst/>
            </a:pPr>
            <a:r>
              <a:rPr kumimoji="0" lang="es-CL" altLang="es-CL" sz="20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🔒 Seguridad de tipos en tiempo de ejecución</a:t>
            </a:r>
            <a:endParaRPr kumimoji="0" lang="es-CL" altLang="es-CL" sz="2000" b="0" i="0" u="none" strike="noStrike" cap="none" normalizeH="0" baseline="0">
              <a:ln>
                <a:noFill/>
              </a:ln>
              <a:effectLst/>
              <a:latin typeface="-apple-system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AutoNum type="arabicPeriod" startAt="4"/>
              <a:tabLst/>
            </a:pPr>
            <a:r>
              <a:rPr kumimoji="0" lang="es-CL" altLang="es-CL" sz="20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📚 Bibliotecas estándar extensas</a:t>
            </a:r>
            <a:endParaRPr kumimoji="0" lang="es-CL" altLang="es-CL" sz="2000" b="0" i="0" u="none" strike="noStrike" cap="none" normalizeH="0" baseline="0">
              <a:ln>
                <a:noFill/>
              </a:ln>
              <a:effectLst/>
              <a:latin typeface="-apple-system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CL" altLang="es-CL" sz="20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06765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B357D17-4951-8364-6136-E4F4112C8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3721316" cy="4480726"/>
          </a:xfrm>
        </p:spPr>
        <p:txBody>
          <a:bodyPr>
            <a:normAutofit/>
          </a:bodyPr>
          <a:lstStyle/>
          <a:p>
            <a:r>
              <a:rPr lang="es-ES" sz="4600" b="1" i="0" dirty="0">
                <a:effectLst/>
                <a:latin typeface="-apple-system"/>
              </a:rPr>
              <a:t>🎯 ¿Por qué .NET "ganó" en el ecosistema Microsoft?</a:t>
            </a:r>
            <a:endParaRPr lang="es-CL" sz="46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14870D-3F37-044F-7FCB-CC4C02639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1900" b="1" i="0">
                <a:effectLst/>
                <a:latin typeface="-apple-system"/>
              </a:rPr>
              <a:t>🔗 Integración perfecta</a:t>
            </a:r>
            <a:r>
              <a:rPr lang="es-ES" sz="1900" b="0" i="0">
                <a:effectLst/>
                <a:latin typeface="-apple-system"/>
              </a:rPr>
              <a:t> con Windows y tecnologías Microsoft</a:t>
            </a:r>
          </a:p>
          <a:p>
            <a:pPr>
              <a:buFont typeface="+mj-lt"/>
              <a:buAutoNum type="arabicPeriod"/>
            </a:pPr>
            <a:r>
              <a:rPr lang="es-ES" sz="1900" b="1" i="0">
                <a:effectLst/>
                <a:latin typeface="-apple-system"/>
              </a:rPr>
              <a:t>🛠️ Herramientas superiores</a:t>
            </a:r>
            <a:r>
              <a:rPr lang="es-ES" sz="1900" b="0" i="0">
                <a:effectLst/>
                <a:latin typeface="-apple-system"/>
              </a:rPr>
              <a:t> (Visual Studio)</a:t>
            </a:r>
          </a:p>
          <a:p>
            <a:pPr>
              <a:buFont typeface="+mj-lt"/>
              <a:buAutoNum type="arabicPeriod"/>
            </a:pPr>
            <a:r>
              <a:rPr lang="es-ES" sz="1900" b="1" i="0">
                <a:effectLst/>
                <a:latin typeface="-apple-system"/>
              </a:rPr>
              <a:t>💼 Adopción empresarial</a:t>
            </a:r>
            <a:r>
              <a:rPr lang="es-ES" sz="1900" b="0" i="0">
                <a:effectLst/>
                <a:latin typeface="-apple-system"/>
              </a:rPr>
              <a:t> masiva en entornos corporativos</a:t>
            </a:r>
          </a:p>
          <a:p>
            <a:pPr>
              <a:buFont typeface="+mj-lt"/>
              <a:buAutoNum type="arabicPeriod"/>
            </a:pPr>
            <a:r>
              <a:rPr lang="es-ES" sz="1900" b="1" i="0">
                <a:effectLst/>
                <a:latin typeface="-apple-system"/>
              </a:rPr>
              <a:t>🔄 Evolución constante</a:t>
            </a:r>
            <a:r>
              <a:rPr lang="es-ES" sz="1900" b="0" i="0">
                <a:effectLst/>
                <a:latin typeface="-apple-system"/>
              </a:rPr>
              <a:t> (.NET Core, .NET 5+)</a:t>
            </a:r>
          </a:p>
          <a:p>
            <a:pPr marL="0" indent="0">
              <a:buNone/>
            </a:pPr>
            <a:r>
              <a:rPr lang="es-ES" sz="1900" b="1" i="0">
                <a:effectLst/>
                <a:latin typeface="-apple-system"/>
              </a:rPr>
              <a:t>💭 Reflexión:</a:t>
            </a:r>
            <a:r>
              <a:rPr lang="es-ES" sz="1900" b="0" i="0">
                <a:effectLst/>
                <a:latin typeface="-apple-system"/>
              </a:rPr>
              <a:t> .NET no reinventó la rueda, sino que mejoró el diseño de Java y lo adaptó al ecosistema Microsoft.</a:t>
            </a:r>
          </a:p>
          <a:p>
            <a:endParaRPr lang="es-CL" sz="1900"/>
          </a:p>
        </p:txBody>
      </p:sp>
    </p:spTree>
    <p:extLst>
      <p:ext uri="{BB962C8B-B14F-4D97-AF65-F5344CB8AC3E}">
        <p14:creationId xmlns:p14="http://schemas.microsoft.com/office/powerpoint/2010/main" val="31459932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AC691D-7669-593C-82F1-F9B86B5677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s-CL" b="1" i="0" dirty="0">
                <a:solidFill>
                  <a:srgbClr val="000000"/>
                </a:solidFill>
                <a:effectLst/>
                <a:latin typeface="-apple-system"/>
              </a:rPr>
              <a:t>⚙️ Componentes Principales de .NET</a:t>
            </a:r>
            <a:endParaRPr lang="es-CL" dirty="0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9A607415-E76D-B560-1D74-367A42AEB1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8651" y="1690688"/>
            <a:ext cx="11694697" cy="44773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984624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CB9F8B-6F13-C2B6-761E-8251EA15D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9621520" cy="1618489"/>
          </a:xfrm>
        </p:spPr>
        <p:txBody>
          <a:bodyPr anchor="ctr">
            <a:normAutofit/>
          </a:bodyPr>
          <a:lstStyle/>
          <a:p>
            <a:pPr algn="ctr"/>
            <a:r>
              <a:rPr lang="es-ES" sz="5000" b="1" i="0" dirty="0">
                <a:effectLst/>
                <a:latin typeface="-apple-system"/>
              </a:rPr>
              <a:t>🔍 Explicación Detallada de Componentes:</a:t>
            </a:r>
            <a:endParaRPr lang="es-CL" sz="5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82B1B9-6CCB-C196-2240-38D01550D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669083"/>
            <a:ext cx="9898575" cy="3335867"/>
          </a:xfrm>
        </p:spPr>
        <p:txBody>
          <a:bodyPr anchor="t">
            <a:normAutofit lnSpcReduction="10000"/>
          </a:bodyPr>
          <a:lstStyle/>
          <a:p>
            <a:pPr marL="0" indent="0">
              <a:buNone/>
            </a:pPr>
            <a:r>
              <a:rPr lang="es-CL" sz="2000" b="1" i="0" dirty="0">
                <a:effectLst/>
                <a:latin typeface="-apple-system"/>
              </a:rPr>
              <a:t>1. </a:t>
            </a:r>
            <a:r>
              <a:rPr lang="es-CL" sz="2000" b="1" i="0" dirty="0" err="1">
                <a:effectLst/>
                <a:latin typeface="-apple-system"/>
              </a:rPr>
              <a:t>Common</a:t>
            </a:r>
            <a:r>
              <a:rPr lang="es-CL" sz="2000" b="1" i="0" dirty="0">
                <a:effectLst/>
                <a:latin typeface="-apple-system"/>
              </a:rPr>
              <a:t> Language Runtime (CLR)</a:t>
            </a:r>
            <a:r>
              <a:rPr lang="es-CL" sz="2000" b="0" i="0" dirty="0">
                <a:effectLst/>
                <a:latin typeface="-apple-system"/>
              </a:rPr>
              <a:t> 🔧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000" b="1" i="0" dirty="0">
                <a:effectLst/>
                <a:latin typeface="-apple-system"/>
              </a:rPr>
              <a:t>Analogía:</a:t>
            </a:r>
            <a:r>
              <a:rPr lang="es-CL" sz="2000" b="0" i="0" dirty="0">
                <a:effectLst/>
                <a:latin typeface="-apple-system"/>
              </a:rPr>
              <a:t> Es como el "motor" de un auto - ejecuta y administra el código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000" b="1" i="0" dirty="0">
                <a:effectLst/>
                <a:latin typeface="-apple-system"/>
              </a:rPr>
              <a:t>Comparación con Java:</a:t>
            </a:r>
            <a:r>
              <a:rPr lang="es-CL" sz="2000" b="0" i="0" dirty="0">
                <a:effectLst/>
                <a:latin typeface="-apple-system"/>
              </a:rPr>
              <a:t> Equivale a la JVM, pero optimizado para múltiples lenguajes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000" b="1" i="0" dirty="0">
                <a:effectLst/>
                <a:latin typeface="-apple-system"/>
              </a:rPr>
              <a:t>Funciones críticas:</a:t>
            </a:r>
            <a:endParaRPr lang="es-CL" sz="2000" b="0" i="0" dirty="0"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b="0" i="0" dirty="0">
                <a:effectLst/>
                <a:latin typeface="-apple-system"/>
              </a:rPr>
              <a:t>🗑️ </a:t>
            </a:r>
            <a:r>
              <a:rPr lang="es-CL" sz="2000" b="1" i="0" dirty="0" err="1">
                <a:effectLst/>
                <a:latin typeface="-apple-system"/>
              </a:rPr>
              <a:t>Garbage</a:t>
            </a:r>
            <a:r>
              <a:rPr lang="es-CL" sz="2000" b="1" i="0" dirty="0">
                <a:effectLst/>
                <a:latin typeface="-apple-system"/>
              </a:rPr>
              <a:t> </a:t>
            </a:r>
            <a:r>
              <a:rPr lang="es-CL" sz="2000" b="1" i="0" dirty="0" err="1">
                <a:effectLst/>
                <a:latin typeface="-apple-system"/>
              </a:rPr>
              <a:t>Collection</a:t>
            </a:r>
            <a:r>
              <a:rPr lang="es-CL" sz="2000" b="1" i="0" dirty="0">
                <a:effectLst/>
                <a:latin typeface="-apple-system"/>
              </a:rPr>
              <a:t>:</a:t>
            </a:r>
            <a:r>
              <a:rPr lang="es-CL" sz="2000" b="0" i="0" dirty="0">
                <a:effectLst/>
                <a:latin typeface="-apple-system"/>
              </a:rPr>
              <a:t> Manejo automático de memoria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b="0" i="0" dirty="0">
                <a:effectLst/>
                <a:latin typeface="-apple-system"/>
              </a:rPr>
              <a:t>🔒 </a:t>
            </a:r>
            <a:r>
              <a:rPr lang="es-CL" sz="2000" b="1" i="0" dirty="0">
                <a:effectLst/>
                <a:latin typeface="-apple-system"/>
              </a:rPr>
              <a:t>Code Access Security:</a:t>
            </a:r>
            <a:r>
              <a:rPr lang="es-CL" sz="2000" b="0" i="0" dirty="0">
                <a:effectLst/>
                <a:latin typeface="-apple-system"/>
              </a:rPr>
              <a:t> Permisos granulares de ejecución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b="0" i="0" dirty="0">
                <a:effectLst/>
                <a:latin typeface="-apple-system"/>
              </a:rPr>
              <a:t>⚡ </a:t>
            </a:r>
            <a:r>
              <a:rPr lang="es-CL" sz="2000" b="1" i="0" dirty="0">
                <a:effectLst/>
                <a:latin typeface="-apple-system"/>
              </a:rPr>
              <a:t>JIT </a:t>
            </a:r>
            <a:r>
              <a:rPr lang="es-CL" sz="2000" b="1" i="0" dirty="0" err="1">
                <a:effectLst/>
                <a:latin typeface="-apple-system"/>
              </a:rPr>
              <a:t>Compilation</a:t>
            </a:r>
            <a:r>
              <a:rPr lang="es-CL" sz="2000" b="1" i="0" dirty="0">
                <a:effectLst/>
                <a:latin typeface="-apple-system"/>
              </a:rPr>
              <a:t>:</a:t>
            </a:r>
            <a:r>
              <a:rPr lang="es-CL" sz="2000" b="0" i="0" dirty="0">
                <a:effectLst/>
                <a:latin typeface="-apple-system"/>
              </a:rPr>
              <a:t> Convierte IL a código nativo en tiempo real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b="0" i="0" dirty="0">
                <a:effectLst/>
                <a:latin typeface="-apple-system"/>
              </a:rPr>
              <a:t>🧵 </a:t>
            </a:r>
            <a:r>
              <a:rPr lang="es-CL" sz="2000" b="1" i="0" dirty="0" err="1">
                <a:effectLst/>
                <a:latin typeface="-apple-system"/>
              </a:rPr>
              <a:t>Thread</a:t>
            </a:r>
            <a:r>
              <a:rPr lang="es-CL" sz="2000" b="1" i="0" dirty="0">
                <a:effectLst/>
                <a:latin typeface="-apple-system"/>
              </a:rPr>
              <a:t> Management:</a:t>
            </a:r>
            <a:r>
              <a:rPr lang="es-CL" sz="2000" b="0" i="0" dirty="0">
                <a:effectLst/>
                <a:latin typeface="-apple-system"/>
              </a:rPr>
              <a:t> Manejo eficiente de hilos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000" b="1" i="0" dirty="0">
                <a:effectLst/>
                <a:latin typeface="-apple-system"/>
              </a:rPr>
              <a:t>Ventaja clave:</a:t>
            </a:r>
            <a:r>
              <a:rPr lang="es-CL" sz="2000" b="0" i="0" dirty="0">
                <a:effectLst/>
                <a:latin typeface="-apple-system"/>
              </a:rPr>
              <a:t> Un solo runtime para múltiples lenguajes vs Java que necesita JVM por lenguaje</a:t>
            </a:r>
          </a:p>
          <a:p>
            <a:endParaRPr lang="es-CL" sz="1500" dirty="0"/>
          </a:p>
        </p:txBody>
      </p:sp>
    </p:spTree>
    <p:extLst>
      <p:ext uri="{BB962C8B-B14F-4D97-AF65-F5344CB8AC3E}">
        <p14:creationId xmlns:p14="http://schemas.microsoft.com/office/powerpoint/2010/main" val="1527197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CB9F8B-6F13-C2B6-761E-8251EA15D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9621520" cy="1618489"/>
          </a:xfrm>
        </p:spPr>
        <p:txBody>
          <a:bodyPr anchor="ctr">
            <a:normAutofit/>
          </a:bodyPr>
          <a:lstStyle/>
          <a:p>
            <a:pPr algn="ctr"/>
            <a:r>
              <a:rPr lang="es-ES" sz="5000" b="1" i="0" dirty="0">
                <a:effectLst/>
                <a:latin typeface="-apple-system"/>
              </a:rPr>
              <a:t>🔍 Explicación Detallada de Componentes:</a:t>
            </a:r>
            <a:endParaRPr lang="es-CL" sz="50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82B1B9-6CCB-C196-2240-38D01550D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532185"/>
            <a:ext cx="10025185" cy="3573193"/>
          </a:xfrm>
        </p:spPr>
        <p:txBody>
          <a:bodyPr anchor="t">
            <a:normAutofit fontScale="92500"/>
          </a:bodyPr>
          <a:lstStyle/>
          <a:p>
            <a:pPr marL="0" indent="0">
              <a:buNone/>
            </a:pPr>
            <a:r>
              <a:rPr lang="es-CL" sz="2000" b="1" i="0" dirty="0">
                <a:effectLst/>
                <a:latin typeface="-apple-system"/>
              </a:rPr>
              <a:t>2. Base Class Library (BCL)</a:t>
            </a:r>
            <a:r>
              <a:rPr lang="es-CL" sz="2000" b="0" i="0" dirty="0">
                <a:effectLst/>
                <a:latin typeface="-apple-system"/>
              </a:rPr>
              <a:t> 📚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000" b="1" i="0" dirty="0">
                <a:effectLst/>
                <a:latin typeface="-apple-system"/>
              </a:rPr>
              <a:t>Analogía:</a:t>
            </a:r>
            <a:r>
              <a:rPr lang="es-CL" sz="2000" b="0" i="0" dirty="0">
                <a:effectLst/>
                <a:latin typeface="-apple-system"/>
              </a:rPr>
              <a:t> Es como una "caja de herramientas gigante" con 15,000+ funciones </a:t>
            </a:r>
            <a:r>
              <a:rPr lang="es-CL" sz="2000" b="0" i="0" dirty="0" err="1">
                <a:effectLst/>
                <a:latin typeface="-apple-system"/>
              </a:rPr>
              <a:t>pre-construidas</a:t>
            </a:r>
            <a:endParaRPr lang="es-CL" sz="20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L" sz="2000" b="1" i="0" dirty="0">
                <a:effectLst/>
                <a:latin typeface="-apple-system"/>
              </a:rPr>
              <a:t>Comparación con Java:</a:t>
            </a:r>
            <a:r>
              <a:rPr lang="es-CL" sz="2000" b="0" i="0" dirty="0">
                <a:effectLst/>
                <a:latin typeface="-apple-system"/>
              </a:rPr>
              <a:t> Similar al JDK, pero más integrado con Windows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000" b="1" i="0" dirty="0">
                <a:effectLst/>
                <a:latin typeface="-apple-system"/>
              </a:rPr>
              <a:t>Categorías principales:</a:t>
            </a:r>
            <a:endParaRPr lang="es-CL" sz="2000" b="0" i="0" dirty="0">
              <a:effectLst/>
              <a:latin typeface="-apple-system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b="0" i="0" dirty="0">
                <a:effectLst/>
                <a:latin typeface="-apple-system"/>
              </a:rPr>
              <a:t>🔢 </a:t>
            </a:r>
            <a:r>
              <a:rPr lang="es-CL" sz="2000" b="1" i="0" dirty="0" err="1">
                <a:effectLst/>
                <a:latin typeface="-apple-system"/>
              </a:rPr>
              <a:t>System</a:t>
            </a:r>
            <a:r>
              <a:rPr lang="es-CL" sz="2000" b="1" i="0" dirty="0">
                <a:effectLst/>
                <a:latin typeface="-apple-system"/>
              </a:rPr>
              <a:t>:</a:t>
            </a:r>
            <a:r>
              <a:rPr lang="es-CL" sz="2000" b="0" i="0" dirty="0">
                <a:effectLst/>
                <a:latin typeface="-apple-system"/>
              </a:rPr>
              <a:t> Tipos básicos (</a:t>
            </a:r>
            <a:r>
              <a:rPr lang="es-CL" sz="2000" b="0" i="0" dirty="0" err="1">
                <a:effectLst/>
                <a:latin typeface="-apple-system"/>
              </a:rPr>
              <a:t>String</a:t>
            </a:r>
            <a:r>
              <a:rPr lang="es-CL" sz="2000" b="0" i="0" dirty="0">
                <a:effectLst/>
                <a:latin typeface="-apple-system"/>
              </a:rPr>
              <a:t>, Int32, </a:t>
            </a:r>
            <a:r>
              <a:rPr lang="es-CL" sz="2000" b="0" i="0" dirty="0" err="1">
                <a:effectLst/>
                <a:latin typeface="-apple-system"/>
              </a:rPr>
              <a:t>DateTime</a:t>
            </a:r>
            <a:r>
              <a:rPr lang="es-CL" sz="2000" b="0" i="0" dirty="0">
                <a:effectLst/>
                <a:latin typeface="-apple-system"/>
              </a:rPr>
              <a:t>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b="0" i="0" dirty="0">
                <a:effectLst/>
                <a:latin typeface="-apple-system"/>
              </a:rPr>
              <a:t>📊 </a:t>
            </a:r>
            <a:r>
              <a:rPr lang="es-CL" sz="2000" b="1" i="0" dirty="0" err="1">
                <a:effectLst/>
                <a:latin typeface="-apple-system"/>
              </a:rPr>
              <a:t>Collections</a:t>
            </a:r>
            <a:r>
              <a:rPr lang="es-CL" sz="2000" b="1" i="0" dirty="0">
                <a:effectLst/>
                <a:latin typeface="-apple-system"/>
              </a:rPr>
              <a:t>:</a:t>
            </a:r>
            <a:r>
              <a:rPr lang="es-CL" sz="2000" b="0" i="0" dirty="0">
                <a:effectLst/>
                <a:latin typeface="-apple-system"/>
              </a:rPr>
              <a:t> Listas, diccionarios, colas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b="0" i="0" dirty="0">
                <a:effectLst/>
                <a:latin typeface="-apple-system"/>
              </a:rPr>
              <a:t>🗂️ </a:t>
            </a:r>
            <a:r>
              <a:rPr lang="es-CL" sz="2000" b="1" i="0" dirty="0">
                <a:effectLst/>
                <a:latin typeface="-apple-system"/>
              </a:rPr>
              <a:t>System.IO:</a:t>
            </a:r>
            <a:r>
              <a:rPr lang="es-CL" sz="2000" b="0" i="0" dirty="0">
                <a:effectLst/>
                <a:latin typeface="-apple-system"/>
              </a:rPr>
              <a:t> Archivos, </a:t>
            </a:r>
            <a:r>
              <a:rPr lang="es-CL" sz="2000" b="0" i="0" dirty="0" err="1">
                <a:effectLst/>
                <a:latin typeface="-apple-system"/>
              </a:rPr>
              <a:t>streams</a:t>
            </a:r>
            <a:r>
              <a:rPr lang="es-CL" sz="2000" b="0" i="0" dirty="0">
                <a:effectLst/>
                <a:latin typeface="-apple-system"/>
              </a:rPr>
              <a:t>, directorios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b="0" i="0" dirty="0">
                <a:effectLst/>
                <a:latin typeface="-apple-system"/>
              </a:rPr>
              <a:t>🌐 </a:t>
            </a:r>
            <a:r>
              <a:rPr lang="es-CL" sz="2000" b="1" i="0" dirty="0" err="1">
                <a:effectLst/>
                <a:latin typeface="-apple-system"/>
              </a:rPr>
              <a:t>System.Net</a:t>
            </a:r>
            <a:r>
              <a:rPr lang="es-CL" sz="2000" b="1" i="0" dirty="0">
                <a:effectLst/>
                <a:latin typeface="-apple-system"/>
              </a:rPr>
              <a:t>:</a:t>
            </a:r>
            <a:r>
              <a:rPr lang="es-CL" sz="2000" b="0" i="0" dirty="0">
                <a:effectLst/>
                <a:latin typeface="-apple-system"/>
              </a:rPr>
              <a:t> HTTP, TCP, sockets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s-CL" sz="2000" b="0" i="0" dirty="0">
                <a:effectLst/>
                <a:latin typeface="-apple-system"/>
              </a:rPr>
              <a:t>🔍 </a:t>
            </a:r>
            <a:r>
              <a:rPr lang="es-CL" sz="2000" b="1" i="0" dirty="0" err="1">
                <a:effectLst/>
                <a:latin typeface="-apple-system"/>
              </a:rPr>
              <a:t>System.Linq</a:t>
            </a:r>
            <a:r>
              <a:rPr lang="es-CL" sz="2000" b="1" i="0" dirty="0">
                <a:effectLst/>
                <a:latin typeface="-apple-system"/>
              </a:rPr>
              <a:t>:</a:t>
            </a:r>
            <a:r>
              <a:rPr lang="es-CL" sz="2000" b="0" i="0" dirty="0">
                <a:effectLst/>
                <a:latin typeface="-apple-system"/>
              </a:rPr>
              <a:t> Consultas sobre datos (como SQL en memoria)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000" b="1" i="0" dirty="0">
                <a:effectLst/>
                <a:latin typeface="-apple-system"/>
              </a:rPr>
              <a:t>Ventaja:</a:t>
            </a:r>
            <a:r>
              <a:rPr lang="es-CL" sz="2000" b="0" i="0" dirty="0">
                <a:effectLst/>
                <a:latin typeface="-apple-system"/>
              </a:rPr>
              <a:t> No reinventar la rueda, 80% del código ya está escrito</a:t>
            </a:r>
          </a:p>
          <a:p>
            <a:endParaRPr lang="es-CL" sz="1300" dirty="0"/>
          </a:p>
        </p:txBody>
      </p:sp>
    </p:spTree>
    <p:extLst>
      <p:ext uri="{BB962C8B-B14F-4D97-AF65-F5344CB8AC3E}">
        <p14:creationId xmlns:p14="http://schemas.microsoft.com/office/powerpoint/2010/main" val="7254173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9">
            <a:extLst>
              <a:ext uri="{FF2B5EF4-FFF2-40B4-BE49-F238E27FC236}">
                <a16:creationId xmlns:a16="http://schemas.microsoft.com/office/drawing/2014/main" id="{9D25F302-27C5-414F-97F8-6EA0A6C028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1">
            <a:extLst>
              <a:ext uri="{FF2B5EF4-FFF2-40B4-BE49-F238E27FC236}">
                <a16:creationId xmlns:a16="http://schemas.microsoft.com/office/drawing/2014/main" id="{830A36F8-48C2-4842-A87B-8CE8DF4E7F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3">
            <a:extLst>
              <a:ext uri="{FF2B5EF4-FFF2-40B4-BE49-F238E27FC236}">
                <a16:creationId xmlns:a16="http://schemas.microsoft.com/office/drawing/2014/main" id="{8F451A30-466B-4996-9BA5-CD6ABCC6D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ACB9F8B-6F13-C2B6-761E-8251EA15DE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9305" y="3415754"/>
            <a:ext cx="9471956" cy="1137111"/>
          </a:xfrm>
        </p:spPr>
        <p:txBody>
          <a:bodyPr>
            <a:normAutofit/>
          </a:bodyPr>
          <a:lstStyle/>
          <a:p>
            <a:r>
              <a:rPr lang="es-ES" sz="3800" b="1" i="0">
                <a:effectLst/>
                <a:latin typeface="-apple-system"/>
              </a:rPr>
              <a:t>🔍 Explicación Detallada de Componentes:</a:t>
            </a:r>
            <a:endParaRPr lang="es-CL" sz="3800"/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8F6E044D-F9AD-90B4-B9D4-E9FD1C4E05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2298" y="1737462"/>
            <a:ext cx="7745969" cy="1604625"/>
          </a:xfrm>
          <a:prstGeom prst="rect">
            <a:avLst/>
          </a:prstGeom>
        </p:spPr>
      </p:pic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682B1B9-6CCB-C196-2240-38D01550DF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4612943"/>
            <a:ext cx="7745969" cy="1408222"/>
          </a:xfrm>
        </p:spPr>
        <p:txBody>
          <a:bodyPr anchor="t">
            <a:normAutofit/>
          </a:bodyPr>
          <a:lstStyle/>
          <a:p>
            <a:r>
              <a:rPr lang="es-ES" sz="1600" b="1" i="0">
                <a:effectLst/>
                <a:latin typeface="-apple-system"/>
              </a:rPr>
              <a:t>3. Lenguajes .NET y Common Type System (CTS)</a:t>
            </a:r>
            <a:r>
              <a:rPr lang="es-ES" sz="1600" b="0" i="0">
                <a:effectLst/>
                <a:latin typeface="-apple-system"/>
              </a:rPr>
              <a:t> 🗣️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1" i="0">
                <a:effectLst/>
                <a:latin typeface="-apple-system"/>
              </a:rPr>
              <a:t>Concepto revolucionario:</a:t>
            </a:r>
            <a:r>
              <a:rPr lang="es-ES" sz="1600" b="0" i="0">
                <a:effectLst/>
                <a:latin typeface="-apple-system"/>
              </a:rPr>
              <a:t> Todos los lenguajes comparten el mismo sistema de tipos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1" i="0">
                <a:effectLst/>
                <a:latin typeface="-apple-system"/>
              </a:rPr>
              <a:t>Common Language Specification (CLS):</a:t>
            </a:r>
            <a:r>
              <a:rPr lang="es-ES" sz="1600" b="0" i="0">
                <a:effectLst/>
                <a:latin typeface="-apple-system"/>
              </a:rPr>
              <a:t> Reglas para interoperabilidad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600" b="1" i="0">
                <a:effectLst/>
                <a:latin typeface="-apple-system"/>
              </a:rPr>
              <a:t>Ejemplo práctico:</a:t>
            </a:r>
            <a:endParaRPr lang="es-ES" sz="1600" b="0" i="0">
              <a:effectLst/>
              <a:latin typeface="-apple-system"/>
            </a:endParaRPr>
          </a:p>
          <a:p>
            <a:endParaRPr lang="es-CL" sz="1600"/>
          </a:p>
        </p:txBody>
      </p:sp>
    </p:spTree>
    <p:extLst>
      <p:ext uri="{BB962C8B-B14F-4D97-AF65-F5344CB8AC3E}">
        <p14:creationId xmlns:p14="http://schemas.microsoft.com/office/powerpoint/2010/main" val="4844566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9782EF8B-1D4A-256C-CFF5-E774E8E807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676" y="814022"/>
            <a:ext cx="11450648" cy="5229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7210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2EA257-BCB6-E499-1994-276AD992F5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i="0" dirty="0">
                <a:solidFill>
                  <a:srgbClr val="000000"/>
                </a:solidFill>
                <a:effectLst/>
                <a:latin typeface="-apple-system"/>
              </a:rPr>
              <a:t>📊 Comparativa Práctica:</a:t>
            </a:r>
            <a:br>
              <a:rPr lang="es-CL" b="1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es-CL" dirty="0"/>
          </a:p>
        </p:txBody>
      </p:sp>
      <p:pic>
        <p:nvPicPr>
          <p:cNvPr id="5" name="Imagen 4" descr="Tabla&#10;&#10;Descripción generada automáticamente">
            <a:extLst>
              <a:ext uri="{FF2B5EF4-FFF2-40B4-BE49-F238E27FC236}">
                <a16:creationId xmlns:a16="http://schemas.microsoft.com/office/drawing/2014/main" id="{F6C96580-8566-6C97-21B3-87F682009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3280" y="1690688"/>
            <a:ext cx="9385439" cy="38203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3407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43C82F2-8EB0-4821-33F1-A83533D7B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s-CL" sz="5600" b="1" i="0">
                <a:effectLst/>
                <a:latin typeface="-apple-system"/>
              </a:rPr>
              <a:t>🤔 Reflexión grupal:</a:t>
            </a:r>
            <a:endParaRPr lang="es-CL" sz="5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C2995B2-0B6B-9097-0C50-FDDFAA52C5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2400" b="1" i="0">
                <a:effectLst/>
                <a:latin typeface="-apple-system"/>
              </a:rPr>
              <a:t>¿Cuál es la principal ventaja de que .NET sea multiplataforma?</a:t>
            </a:r>
            <a:endParaRPr lang="es-ES" sz="2400" b="0" i="0">
              <a:effectLst/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s-ES" sz="2400" b="1" i="0">
                <a:effectLst/>
                <a:latin typeface="-apple-system"/>
              </a:rPr>
              <a:t>¿Por qué es importante que múltiples lenguajes compilen al mismo IL?</a:t>
            </a:r>
            <a:endParaRPr lang="es-ES" sz="2400" b="0" i="0">
              <a:effectLst/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s-ES" sz="2400" b="1" i="0">
                <a:effectLst/>
                <a:latin typeface="-apple-system"/>
              </a:rPr>
              <a:t>¿En qué escenario elegirían .NET Framework sobre .NET 5+?</a:t>
            </a:r>
            <a:endParaRPr lang="es-ES" sz="2400" b="0" i="0">
              <a:effectLst/>
              <a:latin typeface="-apple-system"/>
            </a:endParaRPr>
          </a:p>
          <a:p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370979987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FA7E0FE-C9F7-4468-A018-162132FA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pPr algn="r"/>
            <a:r>
              <a:rPr lang="es-CL" sz="4600" b="1" i="0">
                <a:effectLst/>
                <a:latin typeface="-apple-system"/>
              </a:rPr>
              <a:t>💡 Respuestas esperadas:</a:t>
            </a:r>
            <a:endParaRPr lang="es-CL" sz="460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987DBDD-2930-3871-2F3D-58F4F1DA43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s-ES" sz="2400" b="0" i="1">
                <a:effectLst/>
                <a:latin typeface="-apple-system"/>
              </a:rPr>
              <a:t>Flexibilidad de despliegue, menor dependencia de Windows</a:t>
            </a:r>
            <a:endParaRPr lang="es-ES" sz="2400" b="0" i="0">
              <a:effectLst/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s-ES" sz="2400" b="0" i="1">
                <a:effectLst/>
                <a:latin typeface="-apple-system"/>
              </a:rPr>
              <a:t>Interoperabilidad, reutilización de código entre lenguajes</a:t>
            </a:r>
            <a:endParaRPr lang="es-ES" sz="2400" b="0" i="0">
              <a:effectLst/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s-ES" sz="2400" b="0" i="1">
                <a:effectLst/>
                <a:latin typeface="-apple-system"/>
              </a:rPr>
              <a:t>Aplicaciones legacy que no pueden migrar, dependencias específicas</a:t>
            </a:r>
            <a:endParaRPr lang="es-ES" sz="2400" b="0" i="0">
              <a:effectLst/>
              <a:latin typeface="-apple-system"/>
            </a:endParaRPr>
          </a:p>
          <a:p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8552999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1">
            <a:extLst>
              <a:ext uri="{FF2B5EF4-FFF2-40B4-BE49-F238E27FC236}">
                <a16:creationId xmlns:a16="http://schemas.microsoft.com/office/drawing/2014/main" id="{521C4EA8-6B83-4338-913D-D75D3C4F34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723D2ED-149A-FCC7-0401-AFB250DAB2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7497" y="679731"/>
            <a:ext cx="3124151" cy="373654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600" b="1" i="0">
                <a:effectLst/>
              </a:rPr>
              <a:t>Comparativa TypeScript vs C# - Del Frontend al Backend</a:t>
            </a:r>
            <a:endParaRPr lang="en-US" sz="4600"/>
          </a:p>
        </p:txBody>
      </p:sp>
      <p:grpSp>
        <p:nvGrpSpPr>
          <p:cNvPr id="21" name="Group 13">
            <a:extLst>
              <a:ext uri="{FF2B5EF4-FFF2-40B4-BE49-F238E27FC236}">
                <a16:creationId xmlns:a16="http://schemas.microsoft.com/office/drawing/2014/main" id="{3AF6A671-C637-4547-85F4-51B6D18813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416432" y="1"/>
            <a:ext cx="2446384" cy="5777808"/>
            <a:chOff x="329184" y="1"/>
            <a:chExt cx="524256" cy="5777808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75CF26-3D3C-4C5A-A2B7-00432016EF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1208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15">
              <a:extLst>
                <a:ext uri="{FF2B5EF4-FFF2-40B4-BE49-F238E27FC236}">
                  <a16:creationId xmlns:a16="http://schemas.microsoft.com/office/drawing/2014/main" id="{99413ED5-9ED4-4772-BCE4-2BCAE6B12E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Rectangle 17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821084" y="679731"/>
            <a:ext cx="7682293" cy="56628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áfico 6">
            <a:extLst>
              <a:ext uri="{FF2B5EF4-FFF2-40B4-BE49-F238E27FC236}">
                <a16:creationId xmlns:a16="http://schemas.microsoft.com/office/drawing/2014/main" id="{B4AA0A0C-FAAD-F97F-2645-0927D60B4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5081" y="1804462"/>
            <a:ext cx="3383280" cy="3383280"/>
          </a:xfrm>
          <a:prstGeom prst="rect">
            <a:avLst/>
          </a:prstGeom>
        </p:spPr>
      </p:pic>
      <p:pic>
        <p:nvPicPr>
          <p:cNvPr id="5" name="Imagen 4" descr="Imagen que contiene dibujo&#10;&#10;Descripción generada automáticamente">
            <a:extLst>
              <a:ext uri="{FF2B5EF4-FFF2-40B4-BE49-F238E27FC236}">
                <a16:creationId xmlns:a16="http://schemas.microsoft.com/office/drawing/2014/main" id="{949EB5B4-AC96-FDB5-37F2-6F86301461A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12357" y="1804462"/>
            <a:ext cx="338328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84037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4CFDEAE7-551B-330F-CBA0-5942401979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573" y="1769807"/>
            <a:ext cx="12087427" cy="3024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55923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3DDA0BD-7F3A-6B48-18BE-7920BD42B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pt-BR" sz="4800" b="1" i="0">
                <a:effectLst/>
                <a:latin typeface="-apple-system"/>
              </a:rPr>
              <a:t>📚 Fundamentos Teóricos: Similitudes Arquitectónicas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34D5F5F-AE5C-3355-16C3-744D3350F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b="1" i="0" dirty="0">
                <a:effectLst/>
                <a:latin typeface="-apple-system"/>
              </a:rPr>
              <a:t>🏗️ Ambos son Lenguajes de Alto Nivel con Tipado Estático</a:t>
            </a:r>
          </a:p>
          <a:p>
            <a:pPr marL="0" indent="0">
              <a:buNone/>
            </a:pPr>
            <a:r>
              <a:rPr lang="es-ES" sz="2000" b="1" i="0" dirty="0">
                <a:effectLst/>
                <a:latin typeface="-apple-system"/>
              </a:rPr>
              <a:t>TypeScript</a:t>
            </a:r>
            <a:r>
              <a:rPr lang="es-ES" sz="2000" b="0" i="0" dirty="0">
                <a:effectLst/>
                <a:latin typeface="-apple-system"/>
              </a:rPr>
              <a:t> surge como una evolución de JavaScript para agregar tipado estático y características empresariales. </a:t>
            </a:r>
            <a:r>
              <a:rPr lang="es-ES" sz="2000" b="1" i="0" dirty="0">
                <a:effectLst/>
                <a:latin typeface="-apple-system"/>
              </a:rPr>
              <a:t>C#</a:t>
            </a:r>
            <a:r>
              <a:rPr lang="es-ES" sz="2000" b="0" i="0" dirty="0">
                <a:effectLst/>
                <a:latin typeface="-apple-system"/>
              </a:rPr>
              <a:t> fue diseñado desde el inicio como un lenguaje empresarial con tipado fuerte. Ambos comparten filosofías similares:</a:t>
            </a:r>
          </a:p>
          <a:p>
            <a:pPr>
              <a:buFont typeface="+mj-lt"/>
              <a:buAutoNum type="arabicPeriod"/>
            </a:pPr>
            <a:r>
              <a:rPr lang="es-ES" sz="2000" b="1" i="0" dirty="0">
                <a:effectLst/>
                <a:latin typeface="-apple-system"/>
              </a:rPr>
              <a:t>🔒 </a:t>
            </a:r>
            <a:r>
              <a:rPr lang="es-ES" sz="2000" b="1" i="0" dirty="0" err="1">
                <a:effectLst/>
                <a:latin typeface="-apple-system"/>
              </a:rPr>
              <a:t>Type</a:t>
            </a:r>
            <a:r>
              <a:rPr lang="es-ES" sz="2000" b="1" i="0" dirty="0">
                <a:effectLst/>
                <a:latin typeface="-apple-system"/>
              </a:rPr>
              <a:t> Safety:</a:t>
            </a:r>
            <a:r>
              <a:rPr lang="es-ES" sz="2000" b="0" i="0" dirty="0">
                <a:effectLst/>
                <a:latin typeface="-apple-system"/>
              </a:rPr>
              <a:t> Prevenir errores en tiempo de compilación</a:t>
            </a:r>
          </a:p>
          <a:p>
            <a:pPr>
              <a:buFont typeface="+mj-lt"/>
              <a:buAutoNum type="arabicPeriod"/>
            </a:pPr>
            <a:r>
              <a:rPr lang="es-ES" sz="2000" b="1" i="0" dirty="0">
                <a:effectLst/>
                <a:latin typeface="-apple-system"/>
              </a:rPr>
              <a:t>🏢 Enterprise </a:t>
            </a:r>
            <a:r>
              <a:rPr lang="es-ES" sz="2000" b="1" i="0" dirty="0" err="1">
                <a:effectLst/>
                <a:latin typeface="-apple-system"/>
              </a:rPr>
              <a:t>Ready</a:t>
            </a:r>
            <a:r>
              <a:rPr lang="es-ES" sz="2000" b="1" i="0" dirty="0">
                <a:effectLst/>
                <a:latin typeface="-apple-system"/>
              </a:rPr>
              <a:t>:</a:t>
            </a:r>
            <a:r>
              <a:rPr lang="es-ES" sz="2000" b="0" i="0" dirty="0">
                <a:effectLst/>
                <a:latin typeface="-apple-system"/>
              </a:rPr>
              <a:t> Diseñados para aplicaciones grandes y complejas</a:t>
            </a:r>
          </a:p>
          <a:p>
            <a:pPr>
              <a:buFont typeface="+mj-lt"/>
              <a:buAutoNum type="arabicPeriod"/>
            </a:pPr>
            <a:r>
              <a:rPr lang="es-ES" sz="2000" b="1" i="0" dirty="0">
                <a:effectLst/>
                <a:latin typeface="-apple-system"/>
              </a:rPr>
              <a:t>🛠️ Tooling </a:t>
            </a:r>
            <a:r>
              <a:rPr lang="es-ES" sz="2000" b="1" i="0" dirty="0" err="1">
                <a:effectLst/>
                <a:latin typeface="-apple-system"/>
              </a:rPr>
              <a:t>Excellence</a:t>
            </a:r>
            <a:r>
              <a:rPr lang="es-ES" sz="2000" b="1" i="0" dirty="0">
                <a:effectLst/>
                <a:latin typeface="-apple-system"/>
              </a:rPr>
              <a:t>:</a:t>
            </a:r>
            <a:r>
              <a:rPr lang="es-ES" sz="2000" b="0" i="0" dirty="0">
                <a:effectLst/>
                <a:latin typeface="-apple-system"/>
              </a:rPr>
              <a:t> </a:t>
            </a:r>
            <a:r>
              <a:rPr lang="es-ES" sz="2000" b="0" i="0" dirty="0" err="1">
                <a:effectLst/>
                <a:latin typeface="-apple-system"/>
              </a:rPr>
              <a:t>IDEs</a:t>
            </a:r>
            <a:r>
              <a:rPr lang="es-ES" sz="2000" b="0" i="0" dirty="0">
                <a:effectLst/>
                <a:latin typeface="-apple-system"/>
              </a:rPr>
              <a:t> poderosos con </a:t>
            </a:r>
            <a:r>
              <a:rPr lang="es-ES" sz="2000" b="0" i="0" dirty="0" err="1">
                <a:effectLst/>
                <a:latin typeface="-apple-system"/>
              </a:rPr>
              <a:t>IntelliSense</a:t>
            </a:r>
            <a:endParaRPr lang="es-ES" sz="2000" b="0" i="0" dirty="0">
              <a:effectLst/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s-ES" sz="2000" b="1" i="0" dirty="0">
                <a:effectLst/>
                <a:latin typeface="-apple-system"/>
              </a:rPr>
              <a:t>📚 </a:t>
            </a:r>
            <a:r>
              <a:rPr lang="es-ES" sz="2000" b="1" i="0" dirty="0" err="1">
                <a:effectLst/>
                <a:latin typeface="-apple-system"/>
              </a:rPr>
              <a:t>Rich</a:t>
            </a:r>
            <a:r>
              <a:rPr lang="es-ES" sz="2000" b="1" i="0" dirty="0">
                <a:effectLst/>
                <a:latin typeface="-apple-system"/>
              </a:rPr>
              <a:t> </a:t>
            </a:r>
            <a:r>
              <a:rPr lang="es-ES" sz="2000" b="1" i="0" dirty="0" err="1">
                <a:effectLst/>
                <a:latin typeface="-apple-system"/>
              </a:rPr>
              <a:t>Ecosystems</a:t>
            </a:r>
            <a:r>
              <a:rPr lang="es-ES" sz="2000" b="1" i="0" dirty="0">
                <a:effectLst/>
                <a:latin typeface="-apple-system"/>
              </a:rPr>
              <a:t>:</a:t>
            </a:r>
            <a:r>
              <a:rPr lang="es-ES" sz="2000" b="0" i="0" dirty="0">
                <a:effectLst/>
                <a:latin typeface="-apple-system"/>
              </a:rPr>
              <a:t> Bibliotecas extensas y comunidades activas</a:t>
            </a:r>
          </a:p>
          <a:p>
            <a:endParaRPr lang="es-CL" sz="20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798693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EA000DD3-768E-0612-1F24-2E1A7B6560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9519" y="513943"/>
            <a:ext cx="9392961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8563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739CE7-C7C7-9E4E-C9A9-8606193E76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Diferencias clave en compilación: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7E5D0E7-693B-5E61-4C9E-54FA97F2F5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pt-BR" sz="2400" b="1" i="0">
                <a:effectLst/>
                <a:latin typeface="-apple-system"/>
              </a:rPr>
              <a:t>TypeScript:</a:t>
            </a:r>
            <a:r>
              <a:rPr lang="pt-BR" sz="2400" b="0" i="0">
                <a:effectLst/>
                <a:latin typeface="-apple-system"/>
              </a:rPr>
              <a:t> Transpila a JavaScript (interpretado)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pt-BR" sz="2400" b="1" i="0">
                <a:effectLst/>
                <a:latin typeface="-apple-system"/>
              </a:rPr>
              <a:t>C#:</a:t>
            </a:r>
            <a:r>
              <a:rPr lang="pt-BR" sz="2400" b="0" i="0">
                <a:effectLst/>
                <a:latin typeface="-apple-system"/>
              </a:rPr>
              <a:t> Compila a IL, luego JIT a código nativo (compilado)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20917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0996CF-BC13-763B-3412-6B7D124CA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b="1" i="0" dirty="0">
                <a:solidFill>
                  <a:srgbClr val="000000"/>
                </a:solidFill>
                <a:effectLst/>
                <a:latin typeface="-apple-system"/>
              </a:rPr>
              <a:t>🔤 Comparativa de Sintaxis: Lado a Lado</a:t>
            </a:r>
            <a:endParaRPr lang="es-CL" dirty="0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DCE1CF44-5EAD-ACA1-503B-40D6D08126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545" y="1935467"/>
            <a:ext cx="1064091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96811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6D5872A3-CFF8-4F36-8446-6F1B04585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7EC0934-1503-4296-A688-FC4E83E3F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4813"/>
            <a:ext cx="7147352" cy="6333471"/>
            <a:chOff x="329184" y="-555662"/>
            <a:chExt cx="524256" cy="6333471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0C528A17-D3E6-4463-8942-C4991C05B0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99B74AA-0D92-4B16-A6FE-030C4476E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555662"/>
              <a:ext cx="524256" cy="60877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5E2C537D-FECA-4C7F-A65B-F82518B3A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265180"/>
            <a:ext cx="10999072" cy="57515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Texto&#10;&#10;Descripción generada automáticamente con confianza media">
            <a:extLst>
              <a:ext uri="{FF2B5EF4-FFF2-40B4-BE49-F238E27FC236}">
                <a16:creationId xmlns:a16="http://schemas.microsoft.com/office/drawing/2014/main" id="{60A41F56-1E32-15E8-A463-361A955EC9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4824" y="909954"/>
            <a:ext cx="7796461" cy="4462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89306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5872A3-CFF8-4F36-8446-6F1B04585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7EC0934-1503-4296-A688-FC4E83E3F6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4813"/>
            <a:ext cx="7147352" cy="6333471"/>
            <a:chOff x="329184" y="-555662"/>
            <a:chExt cx="524256" cy="6333471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0C528A17-D3E6-4463-8942-C4991C05B0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299B74AA-0D92-4B16-A6FE-030C4476EF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-555662"/>
              <a:ext cx="524256" cy="6087783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5E2C537D-FECA-4C7F-A65B-F82518B3A1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265180"/>
            <a:ext cx="10999072" cy="575157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00C807C7-5256-14F3-69EA-708F244DD1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9289" y="761068"/>
            <a:ext cx="7367532" cy="4575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63947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Triangle 10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721F657-294F-84C2-1E4D-445578F4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s-CL" sz="5000" b="1" i="0">
                <a:effectLst/>
                <a:latin typeface="-apple-system"/>
              </a:rPr>
              <a:t>📊 Diferencias conceptuales:</a:t>
            </a:r>
            <a:endParaRPr lang="es-CL" sz="500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6102C09-48CD-D8BD-585C-1AC72960561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85240" y="2969469"/>
            <a:ext cx="8074815" cy="280039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111090" numCol="1" anchor="t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CL" altLang="es-CL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TypeScript: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number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para enteros y decimales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C#: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int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, 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double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, 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decimal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- tipos específicos para mejor rendimiento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TypeScript: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boolean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(minúscula)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C#: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bool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(palabra clave específica)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CL" altLang="es-CL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21680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42C3C6-0867-503A-607A-E8D66395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2️⃣ Funciones y Métodos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Escala de tiempo&#10;&#10;Descripción generada automáticamente">
            <a:extLst>
              <a:ext uri="{FF2B5EF4-FFF2-40B4-BE49-F238E27FC236}">
                <a16:creationId xmlns:a16="http://schemas.microsoft.com/office/drawing/2014/main" id="{E2DB489E-6189-6732-847E-D44F6FD105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38" y="877143"/>
            <a:ext cx="7608304" cy="517467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56173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742C3C6-0867-503A-607A-E8D66395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2️⃣ Funciones y Métodos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ECDFD65-6F56-888F-A399-0B73CE36CC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290" y="858525"/>
            <a:ext cx="7468199" cy="5211906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39166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C5752D3-0683-CA0B-AB35-0A0E69A43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/>
              <a:t>🔍 Análisis de diferencias: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25D5BFC2-18C1-86C2-B37C-BAF3F74619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45028" y="3017522"/>
            <a:ext cx="9941319" cy="312465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0" rIns="91440" bIns="11109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CL" altLang="es-CL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C#: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Requiere especificar visibilidad (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public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, 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private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)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C#: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Métodos deben estar dentro de clases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C#: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Fira Code" panose="020B0809050000020004" pitchFamily="49" charset="0"/>
              </a:rPr>
              <a:t>Func&lt;&gt;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para funciones como variables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s-CL" altLang="es-CL" sz="2400" b="1" i="0" u="none" strike="noStrike" cap="none" normalizeH="0" baseline="0">
                <a:ln>
                  <a:noFill/>
                </a:ln>
                <a:effectLst/>
                <a:latin typeface="-apple-system"/>
              </a:rPr>
              <a:t>TypeScript:</a:t>
            </a:r>
            <a:r>
              <a:rPr kumimoji="0" lang="es-CL" altLang="es-CL" sz="2400" b="0" i="0" u="none" strike="noStrike" cap="none" normalizeH="0" baseline="0">
                <a:ln>
                  <a:noFill/>
                </a:ln>
                <a:effectLst/>
                <a:latin typeface="-apple-system"/>
              </a:rPr>
              <a:t> Más flexible en declaración de funciones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s-CL" altLang="es-CL" sz="24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25009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2C3C6-0867-503A-607A-E8D66395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27" y="447556"/>
            <a:ext cx="9584865" cy="11139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200" b="1" i="0" dirty="0">
                <a:solidFill>
                  <a:srgbClr val="000000"/>
                </a:solidFill>
                <a:effectLst/>
                <a:latin typeface="-apple-system"/>
              </a:rPr>
              <a:t>3️⃣ Clases y Programación Orientada a Objetos</a:t>
            </a:r>
            <a:br>
              <a:rPr lang="es-ES" sz="1200" b="1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n 4" descr="Texto, Aplicación&#10;&#10;Descripción generada automáticamente">
            <a:extLst>
              <a:ext uri="{FF2B5EF4-FFF2-40B4-BE49-F238E27FC236}">
                <a16:creationId xmlns:a16="http://schemas.microsoft.com/office/drawing/2014/main" id="{5ADE8E89-0AAB-500F-2AFE-686EE88D0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227" y="1373851"/>
            <a:ext cx="4703376" cy="5379816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87C490AE-00B0-2348-9A35-7B0B45C4C0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7659" y="1950484"/>
            <a:ext cx="5956395" cy="480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923164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2C3C6-0867-503A-607A-E8D66395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227" y="447556"/>
            <a:ext cx="9584865" cy="111398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s-ES" sz="3200" b="1" i="0" dirty="0">
                <a:solidFill>
                  <a:srgbClr val="000000"/>
                </a:solidFill>
                <a:effectLst/>
                <a:latin typeface="-apple-system"/>
              </a:rPr>
              <a:t>3️⃣ Clases y Programación Orientada a Objetos</a:t>
            </a:r>
            <a:br>
              <a:rPr lang="es-ES" sz="1200" b="1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Imagen 3" descr="Texto, Aplicación&#10;&#10;Descripción generada automáticamente">
            <a:extLst>
              <a:ext uri="{FF2B5EF4-FFF2-40B4-BE49-F238E27FC236}">
                <a16:creationId xmlns:a16="http://schemas.microsoft.com/office/drawing/2014/main" id="{A2BD1B5C-223D-0932-FEA9-37AF428652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754492"/>
            <a:ext cx="5372573" cy="5103508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30C0157-0DC3-3A77-008F-C4DD270148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72573" y="1561541"/>
            <a:ext cx="6819427" cy="5296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373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742C3C6-0867-503A-607A-E8D663958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8465" y="77492"/>
            <a:ext cx="9584865" cy="659928"/>
          </a:xfrm>
        </p:spPr>
        <p:txBody>
          <a:bodyPr vert="horz" lIns="91440" tIns="45720" rIns="91440" bIns="45720" rtlCol="0" anchor="ctr">
            <a:normAutofit fontScale="90000"/>
          </a:bodyPr>
          <a:lstStyle/>
          <a:p>
            <a:pPr algn="ctr"/>
            <a:r>
              <a:rPr lang="es-ES" sz="3200" b="1" i="0" dirty="0">
                <a:solidFill>
                  <a:srgbClr val="000000"/>
                </a:solidFill>
                <a:effectLst/>
                <a:latin typeface="-apple-system"/>
              </a:rPr>
              <a:t>3️⃣ Clases y Programación Orientada a Objetos</a:t>
            </a:r>
            <a:br>
              <a:rPr lang="es-ES" sz="1200" b="1" i="0" dirty="0">
                <a:solidFill>
                  <a:srgbClr val="000000"/>
                </a:solidFill>
                <a:effectLst/>
                <a:latin typeface="-apple-system"/>
              </a:rPr>
            </a:br>
            <a:endParaRPr lang="en-US" sz="31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AAF97001-13B7-1D5C-5A9E-7CA639B998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4464" y="610925"/>
            <a:ext cx="6096000" cy="6169583"/>
          </a:xfrm>
          <a:prstGeom prst="rect">
            <a:avLst/>
          </a:prstGeom>
        </p:spPr>
      </p:pic>
      <p:pic>
        <p:nvPicPr>
          <p:cNvPr id="7" name="Imagen 6" descr="Interfaz de usuario gráfica, Texto&#10;&#10;Descripción generada automáticamente con confianza media">
            <a:extLst>
              <a:ext uri="{FF2B5EF4-FFF2-40B4-BE49-F238E27FC236}">
                <a16:creationId xmlns:a16="http://schemas.microsoft.com/office/drawing/2014/main" id="{A041ACF3-6799-255B-FCB5-EDAFF245F9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3070" y="2557360"/>
            <a:ext cx="5334466" cy="1743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685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045058-4985-91DA-2C20-B2118097AA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🔧 Explicación Profunda: Propiedades Automáticas de C#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6DD0A4-084D-D12A-BAFE-D9090FDDB2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s-ES" sz="2400" b="1" i="0">
                <a:effectLst/>
                <a:latin typeface="-apple-system"/>
              </a:rPr>
              <a:t>⭐ Concepto clave:</a:t>
            </a:r>
            <a:r>
              <a:rPr lang="es-ES" sz="2400" b="0" i="0">
                <a:effectLst/>
                <a:latin typeface="-apple-system"/>
              </a:rPr>
              <a:t> Las propiedades automáticas son una característica única de C# que simplifica enormemente la escritura de getters y setters.</a:t>
            </a:r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078393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EC21E546-8C7F-5554-F2DC-F46EF68CC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51569" y="219692"/>
            <a:ext cx="7888862" cy="6418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78329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12534DC5-7887-F627-DE8A-ABDE6D7DDD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69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481914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14C1683-C9AC-69AC-CC97-8E237E8F351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2541" y="324717"/>
            <a:ext cx="8806918" cy="6208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18205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1438E389-580A-0761-9289-82297988B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1527" y="223944"/>
            <a:ext cx="7948945" cy="6410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469758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2215C6C6-E45C-4179-9FC1-E8A4C1D474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FE9FE4C-C9E0-4C54-8010-EA9D29CD4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1564726" y="1890469"/>
            <a:ext cx="5860051" cy="2079143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6FAD6EF-0374-46BD-901E-E901DCA01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04847ABE-275E-4DCA-B164-A672D517FB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39984FBF-0898-17E1-92E4-725AFC91EA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70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159377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45E152-337E-3CDF-ED4F-B68924A69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🎯 ¿Por qué son útiles las propiedades automáticas?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1B813A8-3538-986F-46F1-F36DF4D99E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+mj-lt"/>
              <a:buAutoNum type="arabicPeriod"/>
            </a:pPr>
            <a:r>
              <a:rPr lang="es-CL" sz="2400" b="1" i="0">
                <a:effectLst/>
                <a:latin typeface="-apple-system"/>
              </a:rPr>
              <a:t>📝 Menos código repetitivo:</a:t>
            </a:r>
            <a:r>
              <a:rPr lang="es-CL" sz="2400" b="0" i="0">
                <a:effectLst/>
                <a:latin typeface="-apple-system"/>
              </a:rPr>
              <a:t> No escribir getters/setters manuales</a:t>
            </a:r>
          </a:p>
          <a:p>
            <a:pPr>
              <a:buFont typeface="+mj-lt"/>
              <a:buAutoNum type="arabicPeriod"/>
            </a:pPr>
            <a:r>
              <a:rPr lang="es-CL" sz="2400" b="1" i="0">
                <a:effectLst/>
                <a:latin typeface="-apple-system"/>
              </a:rPr>
              <a:t>🔒 Control de acceso granular:</a:t>
            </a:r>
            <a:r>
              <a:rPr lang="es-CL" sz="2400" b="0" i="0">
                <a:effectLst/>
                <a:latin typeface="-apple-system"/>
              </a:rPr>
              <a:t> public get + private set</a:t>
            </a:r>
          </a:p>
          <a:p>
            <a:pPr>
              <a:buFont typeface="+mj-lt"/>
              <a:buAutoNum type="arabicPeriod"/>
            </a:pPr>
            <a:r>
              <a:rPr lang="es-CL" sz="2400" b="1" i="0">
                <a:effectLst/>
                <a:latin typeface="-apple-system"/>
              </a:rPr>
              <a:t>🛠️ Refactoring fácil:</a:t>
            </a:r>
            <a:r>
              <a:rPr lang="es-CL" sz="2400" b="0" i="0">
                <a:effectLst/>
                <a:latin typeface="-apple-system"/>
              </a:rPr>
              <a:t> Cambiar de campo a propiedad sin romper código</a:t>
            </a:r>
          </a:p>
          <a:p>
            <a:pPr>
              <a:buFont typeface="+mj-lt"/>
              <a:buAutoNum type="arabicPeriod"/>
            </a:pPr>
            <a:r>
              <a:rPr lang="es-CL" sz="2400" b="1" i="0">
                <a:effectLst/>
                <a:latin typeface="-apple-system"/>
              </a:rPr>
              <a:t>🔍 IntelliSense mejor:</a:t>
            </a:r>
            <a:r>
              <a:rPr lang="es-CL" sz="2400" b="0" i="0">
                <a:effectLst/>
                <a:latin typeface="-apple-system"/>
              </a:rPr>
              <a:t> Las propiedades aparecen diferentes a los métodos</a:t>
            </a:r>
          </a:p>
          <a:p>
            <a:pPr>
              <a:buFont typeface="+mj-lt"/>
              <a:buAutoNum type="arabicPeriod"/>
            </a:pPr>
            <a:r>
              <a:rPr lang="es-CL" sz="2400" b="1" i="0">
                <a:effectLst/>
                <a:latin typeface="-apple-system"/>
              </a:rPr>
              <a:t>📊 Debugging superior:</a:t>
            </a:r>
            <a:r>
              <a:rPr lang="es-CL" sz="2400" b="0" i="0">
                <a:effectLst/>
                <a:latin typeface="-apple-system"/>
              </a:rPr>
              <a:t> Se pueden poner breakpoints en getters/setters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29401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0D1D8088-559A-46A5-A801-CDF0B9476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3E2E96F-17F7-4C8C-BDF1-6BB90A0C1D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9667" y="2380868"/>
            <a:ext cx="11982332" cy="2087795"/>
            <a:chOff x="143163" y="5763486"/>
            <a:chExt cx="11982332" cy="739555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46BD00C-9313-4A22-94F7-3875A46C6D6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357444" y="5763486"/>
              <a:ext cx="11768051" cy="73955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1EAF30D0-AA67-427C-9938-A2C8A9B5D5D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143163" y="5763486"/>
              <a:ext cx="1" cy="739555"/>
            </a:xfrm>
            <a:prstGeom prst="line">
              <a:avLst/>
            </a:prstGeom>
            <a:ln w="1778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3776B14B-F2F4-4825-8DA8-8C7A0F2B39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466344"/>
            <a:ext cx="11111729" cy="591782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A0E9D03C-0AEE-D098-3397-A17B6F6009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777" b="-1"/>
          <a:stretch>
            <a:fillRect/>
          </a:stretch>
        </p:blipFill>
        <p:spPr>
          <a:xfrm>
            <a:off x="838200" y="704765"/>
            <a:ext cx="10628376" cy="5440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1580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9E48035-FAD4-D05C-4BD1-6C74A57EF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s-CL" sz="3800" b="1" i="0">
                <a:effectLst/>
                <a:latin typeface="-apple-system"/>
              </a:rPr>
              <a:t>💡 Tip Pedagógico para Estudiantes de TypeScript</a:t>
            </a:r>
            <a:endParaRPr lang="es-CL" sz="380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9" name="Rectangle 10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D4AE50-C213-50EE-BC37-E74C76DF0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Piensen en las propiedades automáticas como:</a:t>
            </a:r>
            <a:endParaRPr lang="es-ES" sz="2400" b="0" i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>
                <a:effectLst/>
                <a:latin typeface="-apple-system"/>
              </a:rPr>
              <a:t>"Getters y setters automáticos con superpoderes"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>
                <a:effectLst/>
                <a:latin typeface="-apple-system"/>
              </a:rPr>
              <a:t>C# escribe el código repetitivo por ustedes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>
                <a:effectLst/>
                <a:latin typeface="-apple-system"/>
              </a:rPr>
              <a:t>Pero mantienen todo el control sobre quién puede leer/escribir</a:t>
            </a:r>
          </a:p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Ventaja mental:</a:t>
            </a:r>
            <a:r>
              <a:rPr lang="es-ES" sz="2400" b="0" i="0">
                <a:effectLst/>
                <a:latin typeface="-apple-system"/>
              </a:rPr>
              <a:t> En lugar de pensar "tengo que escribir getter y setter", piensen "¿quién debería poder leer y quién debería poder escribir esta propiedad?"</a:t>
            </a:r>
          </a:p>
          <a:p>
            <a:endParaRPr lang="es-CL" sz="2400"/>
          </a:p>
        </p:txBody>
      </p:sp>
    </p:spTree>
    <p:extLst>
      <p:ext uri="{BB962C8B-B14F-4D97-AF65-F5344CB8AC3E}">
        <p14:creationId xmlns:p14="http://schemas.microsoft.com/office/powerpoint/2010/main" val="295968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EF7737-2F23-5831-2607-A077D6BF2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9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🏗️ Conceptos Avanzados: Diferencias Fundamentales</a:t>
            </a:r>
            <a:endParaRPr lang="en-US" sz="2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Texto, Aplicación, Chat o mensaje de texto, Correo electrónico&#10;&#10;Descripción generada automáticamente">
            <a:extLst>
              <a:ext uri="{FF2B5EF4-FFF2-40B4-BE49-F238E27FC236}">
                <a16:creationId xmlns:a16="http://schemas.microsoft.com/office/drawing/2014/main" id="{359E98A4-0ABE-1428-29DC-632FEAF2EB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38" y="2002848"/>
            <a:ext cx="7608304" cy="292325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50569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BEF7737-2F23-5831-2607-A077D6BF2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9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🏗️ Conceptos Avanzados: Diferencias Fundamentales</a:t>
            </a:r>
            <a:endParaRPr lang="en-US" sz="2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7046AA92-3CC7-F73F-7AD7-CB9569A432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38" y="1868815"/>
            <a:ext cx="7608304" cy="3191325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00953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7BA909-6514-03D3-76D0-53D300F2A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🔄 Manejo de Tipos Nullable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Texto&#10;&#10;Descripción generada automáticamente">
            <a:extLst>
              <a:ext uri="{FF2B5EF4-FFF2-40B4-BE49-F238E27FC236}">
                <a16:creationId xmlns:a16="http://schemas.microsoft.com/office/drawing/2014/main" id="{CF61B099-3CC4-183C-FEB9-2E2D197F56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38" y="1834992"/>
            <a:ext cx="7608304" cy="325897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527915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7BA909-6514-03D3-76D0-53D300F2A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🔄 Manejo de Tipos Nullable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8B89E892-CB26-82B2-AF22-682EF1DB7F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238" y="1480718"/>
            <a:ext cx="7608304" cy="3967520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080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88CC51-756C-AA1A-3D16-D1F661065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s-ES" b="1" i="0" dirty="0">
                <a:solidFill>
                  <a:srgbClr val="000000"/>
                </a:solidFill>
                <a:effectLst/>
                <a:latin typeface="-apple-system"/>
              </a:rPr>
              <a:t>🛠️ Ecosistemas y Herramientas de Desarrollo</a:t>
            </a:r>
            <a:endParaRPr lang="es-CL" dirty="0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57064EC7-237A-616F-220F-C4A13A63B0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436" y="2069993"/>
            <a:ext cx="11041128" cy="2245339"/>
          </a:xfrm>
          <a:prstGeom prst="rect">
            <a:avLst/>
          </a:prstGeom>
        </p:spPr>
      </p:pic>
      <p:pic>
        <p:nvPicPr>
          <p:cNvPr id="7" name="Imagen 6" descr="Diagrama&#10;&#10;Descripción generada automáticamente">
            <a:extLst>
              <a:ext uri="{FF2B5EF4-FFF2-40B4-BE49-F238E27FC236}">
                <a16:creationId xmlns:a16="http://schemas.microsoft.com/office/drawing/2014/main" id="{D7DF427E-D7BF-F8BE-6861-A52253D5D0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967" y="4315332"/>
            <a:ext cx="11214065" cy="20164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73898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E36C56-198A-D6DC-C04D-F93ECEA2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TypeScript: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BE30BA-CE06-C401-896A-6B4B2D05E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L" sz="2400" b="1" i="0">
                <a:effectLst/>
                <a:latin typeface="-apple-system"/>
              </a:rPr>
              <a:t>npm/yarn:</a:t>
            </a:r>
            <a:r>
              <a:rPr lang="es-CL" sz="2400" b="0" i="0">
                <a:effectLst/>
                <a:latin typeface="-apple-system"/>
              </a:rPr>
              <a:t> Gestores de paquetes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i="0">
                <a:effectLst/>
                <a:latin typeface="-apple-system"/>
              </a:rPr>
              <a:t>package.json:</a:t>
            </a:r>
            <a:r>
              <a:rPr lang="es-CL" sz="2400" b="0" i="0">
                <a:effectLst/>
                <a:latin typeface="-apple-system"/>
              </a:rPr>
              <a:t> Configuración de dependencias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i="0">
                <a:effectLst/>
                <a:latin typeface="-apple-system"/>
              </a:rPr>
              <a:t>Bundlers:</a:t>
            </a:r>
            <a:r>
              <a:rPr lang="es-CL" sz="2400" b="0" i="0">
                <a:effectLst/>
                <a:latin typeface="-apple-system"/>
              </a:rPr>
              <a:t> webpack, vite, rollup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i="0">
                <a:effectLst/>
                <a:latin typeface="-apple-system"/>
              </a:rPr>
              <a:t>Target:</a:t>
            </a:r>
            <a:r>
              <a:rPr lang="es-CL" sz="2400" b="0" i="0">
                <a:effectLst/>
                <a:latin typeface="-apple-system"/>
              </a:rPr>
              <a:t> Navegadores web principalmente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905192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6E36C56-198A-D6DC-C04D-F93ECEA2B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 dirty="0">
                <a:effectLst/>
                <a:latin typeface="-apple-system"/>
              </a:rPr>
              <a:t>C#:</a:t>
            </a:r>
            <a:endParaRPr lang="es-CL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BE30BA-CE06-C401-896A-6B4B2D05E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NuGet:</a:t>
            </a:r>
            <a:r>
              <a:rPr lang="es-ES" sz="2400" b="0" i="0">
                <a:effectLst/>
                <a:latin typeface="-apple-system"/>
              </a:rPr>
              <a:t> Gestor de paquetes oficial de .NET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.csproj:</a:t>
            </a:r>
            <a:r>
              <a:rPr lang="es-ES" sz="2400" b="0" i="0">
                <a:effectLst/>
                <a:latin typeface="-apple-system"/>
              </a:rPr>
              <a:t> Archivo de proyecto XML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MSBuild:</a:t>
            </a:r>
            <a:r>
              <a:rPr lang="es-ES" sz="2400" b="0" i="0">
                <a:effectLst/>
                <a:latin typeface="-apple-system"/>
              </a:rPr>
              <a:t> Sistema de construcción integrado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Target:</a:t>
            </a:r>
            <a:r>
              <a:rPr lang="es-ES" sz="2400" b="0" i="0">
                <a:effectLst/>
                <a:latin typeface="-apple-system"/>
              </a:rPr>
              <a:t> Aplicaciones nativas, servicios, APIs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9224526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87E1568-703F-38B6-E967-03EFB199B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🎯 Actividad Práctica: "Traducción de Código"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3194543E-D964-D15E-CB43-5CDF73349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0363" y="297316"/>
            <a:ext cx="6297801" cy="59673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401062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C7D6D8-3161-F886-1A1F-DAAA28B2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💭 Reflexión Teórica: ¿Cuándo Usar Cada Uno?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E88D0D-FBF1-4420-296B-9AFC2C41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🌐 TypeScript es ideal para: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Aplicaciones web (</a:t>
            </a:r>
            <a:r>
              <a:rPr lang="es-ES" sz="2400" b="0" i="0" dirty="0" err="1">
                <a:effectLst/>
                <a:latin typeface="-apple-system"/>
              </a:rPr>
              <a:t>frontend</a:t>
            </a:r>
            <a:r>
              <a:rPr lang="es-ES" sz="2400" b="0" i="0" dirty="0">
                <a:effectLst/>
                <a:latin typeface="-apple-system"/>
              </a:rPr>
              <a:t>/</a:t>
            </a:r>
            <a:r>
              <a:rPr lang="es-ES" sz="2400" b="0" i="0" dirty="0" err="1">
                <a:effectLst/>
                <a:latin typeface="-apple-system"/>
              </a:rPr>
              <a:t>backend</a:t>
            </a:r>
            <a:r>
              <a:rPr lang="es-ES" sz="2400" b="0" i="0" dirty="0">
                <a:effectLst/>
                <a:latin typeface="-apple-system"/>
              </a:rPr>
              <a:t> con Node.js)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Desarrollo rápido y despliegue en la nube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Equipos con experiencia en JavaScript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Proyectos que requieren flexibilidad y agilidad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Aplicaciones que consumen </a:t>
            </a:r>
            <a:r>
              <a:rPr lang="es-ES" sz="2400" b="0" i="0" dirty="0" err="1">
                <a:effectLst/>
                <a:latin typeface="-apple-system"/>
              </a:rPr>
              <a:t>APIs</a:t>
            </a:r>
            <a:r>
              <a:rPr lang="es-ES" sz="2400" b="0" i="0" dirty="0">
                <a:effectLst/>
                <a:latin typeface="-apple-system"/>
              </a:rPr>
              <a:t> REST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9247956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3C7D6D8-3161-F886-1A1F-DAAA28B2D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💭 Reflexión Teórica: ¿Cuándo Usar Cada Uno?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E88D0D-FBF1-4420-296B-9AFC2C419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🖥️ C# es ideal para: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Aplicaciones de escritorio empresariales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 err="1">
                <a:effectLst/>
                <a:latin typeface="-apple-system"/>
              </a:rPr>
              <a:t>APIs</a:t>
            </a:r>
            <a:r>
              <a:rPr lang="es-ES" sz="2400" b="0" i="0" dirty="0">
                <a:effectLst/>
                <a:latin typeface="-apple-system"/>
              </a:rPr>
              <a:t> </a:t>
            </a:r>
            <a:r>
              <a:rPr lang="es-ES" sz="2400" b="0" i="0" dirty="0" err="1">
                <a:effectLst/>
                <a:latin typeface="-apple-system"/>
              </a:rPr>
              <a:t>backend</a:t>
            </a:r>
            <a:r>
              <a:rPr lang="es-ES" sz="2400" b="0" i="0" dirty="0">
                <a:effectLst/>
                <a:latin typeface="-apple-system"/>
              </a:rPr>
              <a:t> robustas y escalables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Integración profunda con ecosistema Microsoft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Aplicaciones que requieren alto rendimiento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Sistemas que manejan grandes volúmenes de datos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14865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40A9FED-E721-C3A9-A507-7A49F30EE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8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🤝 Complementariedad en Arquitecturas Modernas</a:t>
            </a:r>
            <a:endParaRPr lang="en-US" sz="18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49BEE97D-15E4-1E06-0C7D-6FAB97DBD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011" y="858525"/>
            <a:ext cx="7238758" cy="521190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028951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0A2F514-DC9A-DD25-918A-CAFE7BB4A2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Arquitectura híbrida moderna: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9047EBE-0209-B83D-7DC6-EFBE1359A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CL" sz="2400" b="1" i="0">
                <a:effectLst/>
                <a:latin typeface="-apple-system"/>
              </a:rPr>
              <a:t>Frontend:</a:t>
            </a:r>
            <a:r>
              <a:rPr lang="es-CL" sz="2400" b="0" i="0">
                <a:effectLst/>
                <a:latin typeface="-apple-system"/>
              </a:rPr>
              <a:t> TypeScript + React/Vue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i="0">
                <a:effectLst/>
                <a:latin typeface="-apple-system"/>
              </a:rPr>
              <a:t>Backend:</a:t>
            </a:r>
            <a:r>
              <a:rPr lang="es-CL" sz="2400" b="0" i="0">
                <a:effectLst/>
                <a:latin typeface="-apple-system"/>
              </a:rPr>
              <a:t> C# + ASP.NET 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i="0">
                <a:effectLst/>
                <a:latin typeface="-apple-system"/>
              </a:rPr>
              <a:t>Mobile:</a:t>
            </a:r>
            <a:r>
              <a:rPr lang="es-CL" sz="2400" b="0" i="0">
                <a:effectLst/>
                <a:latin typeface="-apple-system"/>
              </a:rPr>
              <a:t> TypeScript + React Native o C# + Xamarin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1" i="0">
                <a:effectLst/>
                <a:latin typeface="-apple-system"/>
              </a:rPr>
              <a:t>Desktop:</a:t>
            </a:r>
            <a:r>
              <a:rPr lang="es-CL" sz="2400" b="0" i="0">
                <a:effectLst/>
                <a:latin typeface="-apple-system"/>
              </a:rPr>
              <a:t> C# + WPF/Windows Forms</a:t>
            </a:r>
          </a:p>
          <a:p>
            <a:pPr marL="0" indent="0">
              <a:buNone/>
            </a:pPr>
            <a:r>
              <a:rPr lang="es-CL" sz="2400" b="0" i="0">
                <a:effectLst/>
                <a:latin typeface="-apple-system"/>
              </a:rPr>
              <a:t>Esta combinación aprovecha las fortalezas de cada tecnología en su dominio optimal.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4043473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58B0186-A2DC-110E-5D52-EEB4686A2C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Programación por Capas y Patrón MVC en .NET</a:t>
            </a:r>
            <a:br>
              <a:rPr lang="en-US" sz="31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516550F4-15AA-FCD3-C20C-50B0AF8701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8563" y="1700514"/>
            <a:ext cx="6026297" cy="3168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2145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2EA86C5-E1AD-95D7-8874-17F08F36AD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🤔 ¿Por qué Programación por Capas?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626B1DF-79E3-8A98-C78B-589886C95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s-ES" sz="2400" b="1" i="0">
                <a:effectLst/>
                <a:latin typeface="-apple-system"/>
              </a:rPr>
              <a:t>Pregunta motivadora:</a:t>
            </a:r>
            <a:r>
              <a:rPr lang="es-ES" sz="2400" b="0" i="0">
                <a:effectLst/>
                <a:latin typeface="-apple-system"/>
              </a:rPr>
              <a:t> </a:t>
            </a:r>
            <a:r>
              <a:rPr lang="es-ES" sz="2400" b="0" i="1">
                <a:effectLst/>
                <a:latin typeface="-apple-system"/>
              </a:rPr>
              <a:t>"¿Alguna vez han visto código donde todo está mezclado: lógica de negocio, interfaz de usuario y acceso a datos en el mismo lugar?"</a:t>
            </a:r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9166399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6A268B16-CCFF-A45F-00BE-F2BAE29D6D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60"/>
          <a:stretch>
            <a:fillRect/>
          </a:stretch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9571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45333E8-D2B9-0A7E-588E-CB8B7F27EE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Ejemplo de código problemático: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4A07764B-DF52-A05A-B5E3-A7DA09BCBC0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86" y="267286"/>
            <a:ext cx="8317963" cy="5822573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0722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DA8BC4-4D3B-B1DC-1BC0-A73FF75FE5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¿Qué problemas ves en este código?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9C8DFD-AED5-3E90-673F-EA3F68B067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s-ES" sz="2400" b="0" i="0">
                <a:effectLst/>
                <a:latin typeface="-apple-system"/>
              </a:rPr>
              <a:t>✅ Mezcla presentación, lógica y datos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>
                <a:effectLst/>
                <a:latin typeface="-apple-system"/>
              </a:rPr>
              <a:t>✅ Difícil de testear (dependencias hard-coded)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>
                <a:effectLst/>
                <a:latin typeface="-apple-system"/>
              </a:rPr>
              <a:t>✅ Imposible reutilizar la lógica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>
                <a:effectLst/>
                <a:latin typeface="-apple-system"/>
              </a:rPr>
              <a:t>✅ Cambiar la UI requiere modificar todo</a:t>
            </a:r>
          </a:p>
          <a:p>
            <a:pPr marL="0" indent="0">
              <a:buNone/>
            </a:pPr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259942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9415B0A-5AC9-5F91-1F78-161AA5381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🏗️ La Solución: Arquitectura por Capas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80C4E2-4535-611F-C801-01954B4AF9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📐 Principios Fundamentales</a:t>
            </a:r>
          </a:p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1. Separación de Responsabilidades (Separation of Concerns)</a:t>
            </a:r>
            <a:r>
              <a:rPr lang="es-ES" sz="2400" b="0" i="0">
                <a:effectLst/>
                <a:latin typeface="-apple-system"/>
              </a:rPr>
              <a:t> Cada capa tiene una responsabilidad específica y bien definida.</a:t>
            </a:r>
          </a:p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2. Dependencias Unidireccionales</a:t>
            </a:r>
            <a:r>
              <a:rPr lang="es-ES" sz="2400" b="0" i="0">
                <a:effectLst/>
                <a:latin typeface="-apple-system"/>
              </a:rPr>
              <a:t> Las capas superiores pueden usar las inferiores, pero no al revés.</a:t>
            </a:r>
          </a:p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3. Abstracción</a:t>
            </a:r>
            <a:r>
              <a:rPr lang="es-ES" sz="2400" b="0" i="0">
                <a:effectLst/>
                <a:latin typeface="-apple-system"/>
              </a:rPr>
              <a:t> Cada capa expone solo lo necesario a la capa superior.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192929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DB41CE41-2850-7D11-55AD-0009DF4626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360" y="599680"/>
            <a:ext cx="11679280" cy="5658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265570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759AC51-4C76-0366-9798-34D4561019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🔍 Análisis Detallado de Cada Capa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20F9907-8A59-FB94-8B07-A1D0DD7700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🎨 Capa de Presentación (</a:t>
            </a:r>
            <a:r>
              <a:rPr lang="es-ES" sz="2400" b="1" i="0" dirty="0" err="1">
                <a:effectLst/>
                <a:latin typeface="-apple-system"/>
              </a:rPr>
              <a:t>Presentation</a:t>
            </a:r>
            <a:r>
              <a:rPr lang="es-ES" sz="2400" b="1" i="0" dirty="0">
                <a:effectLst/>
                <a:latin typeface="-apple-system"/>
              </a:rPr>
              <a:t> </a:t>
            </a:r>
            <a:r>
              <a:rPr lang="es-ES" sz="2400" b="1" i="0" dirty="0" err="1">
                <a:effectLst/>
                <a:latin typeface="-apple-system"/>
              </a:rPr>
              <a:t>Layer</a:t>
            </a:r>
            <a:r>
              <a:rPr lang="es-ES" sz="2400" b="1" i="0" dirty="0">
                <a:effectLst/>
                <a:latin typeface="-apple-system"/>
              </a:rPr>
              <a:t>)</a:t>
            </a:r>
          </a:p>
          <a:p>
            <a:r>
              <a:rPr lang="es-ES" sz="2400" b="1" i="0" dirty="0">
                <a:effectLst/>
                <a:latin typeface="-apple-system"/>
              </a:rPr>
              <a:t>Responsabilidades:</a:t>
            </a:r>
            <a:endParaRPr lang="es-ES" sz="24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Interfaz de Usuario:</a:t>
            </a:r>
            <a:r>
              <a:rPr lang="es-ES" sz="2400" b="0" i="0" dirty="0">
                <a:effectLst/>
                <a:latin typeface="-apple-system"/>
              </a:rPr>
              <a:t> Formularios, vistas, controles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Validación de Entrada:</a:t>
            </a:r>
            <a:r>
              <a:rPr lang="es-ES" sz="2400" b="0" i="0" dirty="0">
                <a:effectLst/>
                <a:latin typeface="-apple-system"/>
              </a:rPr>
              <a:t> Formato, longitud, tipos de datos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Navegación:</a:t>
            </a:r>
            <a:r>
              <a:rPr lang="es-ES" sz="2400" b="0" i="0" dirty="0">
                <a:effectLst/>
                <a:latin typeface="-apple-system"/>
              </a:rPr>
              <a:t> Flujo entre pantallas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Formateo de Salida:</a:t>
            </a:r>
            <a:r>
              <a:rPr lang="es-ES" sz="2400" b="0" i="0" dirty="0">
                <a:effectLst/>
                <a:latin typeface="-apple-system"/>
              </a:rPr>
              <a:t> Cómo se muestran los datos al usuario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734356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F8E8799-DCFF-8EE6-87D2-01975B4658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Tecnologías en .NET:</a:t>
            </a:r>
            <a:endParaRPr lang="en-US" sz="37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n 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98F02634-828D-C533-87EB-8274BC445A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6943" y="470091"/>
            <a:ext cx="6621896" cy="5638782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10592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6C2307-3826-3518-39E8-848B64C34B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🧠 Capa de Lógica de Negocio (Business Logic Layer)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7B26C68-CD69-1FF7-E012-1476A132F3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Responsabilidades:</a:t>
            </a:r>
            <a:endParaRPr lang="es-ES" sz="24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Reglas de Negocio:</a:t>
            </a:r>
            <a:r>
              <a:rPr lang="es-ES" sz="2400" b="0" i="0" dirty="0">
                <a:effectLst/>
                <a:latin typeface="-apple-system"/>
              </a:rPr>
              <a:t> Políticas empresariales específicas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Validaciones Complejas:</a:t>
            </a:r>
            <a:r>
              <a:rPr lang="es-ES" sz="2400" b="0" i="0" dirty="0">
                <a:effectLst/>
                <a:latin typeface="-apple-system"/>
              </a:rPr>
              <a:t> Lógica que va más allá del formato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Procesos de Negocio:</a:t>
            </a:r>
            <a:r>
              <a:rPr lang="es-ES" sz="2400" b="0" i="0" dirty="0">
                <a:effectLst/>
                <a:latin typeface="-apple-system"/>
              </a:rPr>
              <a:t> </a:t>
            </a:r>
            <a:r>
              <a:rPr lang="es-ES" sz="2400" b="0" i="0" dirty="0" err="1">
                <a:effectLst/>
                <a:latin typeface="-apple-system"/>
              </a:rPr>
              <a:t>Workflows</a:t>
            </a:r>
            <a:r>
              <a:rPr lang="es-ES" sz="2400" b="0" i="0" dirty="0">
                <a:effectLst/>
                <a:latin typeface="-apple-system"/>
              </a:rPr>
              <a:t>, cálculos, transformaciones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Coordinación:</a:t>
            </a:r>
            <a:r>
              <a:rPr lang="es-ES" sz="2400" b="0" i="0" dirty="0">
                <a:effectLst/>
                <a:latin typeface="-apple-system"/>
              </a:rPr>
              <a:t> Orquesta operaciones entre diferentes entidades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460318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10966271-A9CC-0C61-B2AC-5EB157F17C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775" y="316204"/>
            <a:ext cx="5769225" cy="6225592"/>
          </a:xfrm>
          <a:prstGeom prst="rect">
            <a:avLst/>
          </a:prstGeom>
        </p:spPr>
      </p:pic>
      <p:pic>
        <p:nvPicPr>
          <p:cNvPr id="9" name="Imagen 8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BE69738-EDB1-76E3-2DF4-5A2F760A8DD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561513"/>
            <a:ext cx="6207221" cy="3353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30552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74911DF-77F4-5AD6-1884-ABD27BCA05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🗄️ Capa de Acceso a Datos (Data Access Layer)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1847444-0217-E376-AD8D-E7791646F6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Responsabilidades:</a:t>
            </a:r>
            <a:endParaRPr lang="es-ES" sz="2400" b="0" i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Persistencia:</a:t>
            </a:r>
            <a:r>
              <a:rPr lang="es-ES" sz="2400" b="0" i="0">
                <a:effectLst/>
                <a:latin typeface="-apple-system"/>
              </a:rPr>
              <a:t> Guardar y recuperar datos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Mapeo:</a:t>
            </a:r>
            <a:r>
              <a:rPr lang="es-ES" sz="2400" b="0" i="0">
                <a:effectLst/>
                <a:latin typeface="-apple-system"/>
              </a:rPr>
              <a:t> Convertir entre objetos de dominio y estructuras de BD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Consultas:</a:t>
            </a:r>
            <a:r>
              <a:rPr lang="es-ES" sz="2400" b="0" i="0">
                <a:effectLst/>
                <a:latin typeface="-apple-system"/>
              </a:rPr>
              <a:t> Implementar búsquedas y filtros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Transacciones:</a:t>
            </a:r>
            <a:r>
              <a:rPr lang="es-ES" sz="2400" b="0" i="0">
                <a:effectLst/>
                <a:latin typeface="-apple-system"/>
              </a:rPr>
              <a:t> Manejar consistencia de datos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4105876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, Aplicación&#10;&#10;Descripción generada automáticamente">
            <a:extLst>
              <a:ext uri="{FF2B5EF4-FFF2-40B4-BE49-F238E27FC236}">
                <a16:creationId xmlns:a16="http://schemas.microsoft.com/office/drawing/2014/main" id="{036ACDFE-C1BC-A148-4ECE-55558ED470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994" y="1"/>
            <a:ext cx="5570439" cy="6858000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4799731D-9829-2D72-2654-0E155AA6853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3818" y="2124222"/>
            <a:ext cx="5958182" cy="2095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887494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1B2033-E978-6368-784B-8D85A7DF76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🎯 Patrón MVC (Model-View-Controller)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FD9D843-C4F0-AFDF-559B-8465604DCA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📚 Fundamentos Teóricos del MVC</a:t>
            </a:r>
          </a:p>
          <a:p>
            <a:r>
              <a:rPr lang="es-ES" sz="2400" b="1" i="0" dirty="0">
                <a:effectLst/>
                <a:latin typeface="-apple-system"/>
              </a:rPr>
              <a:t>MVC es una especialización de la arquitectura por capas</a:t>
            </a:r>
            <a:r>
              <a:rPr lang="es-ES" sz="2400" b="0" i="0" dirty="0">
                <a:effectLst/>
                <a:latin typeface="-apple-system"/>
              </a:rPr>
              <a:t> específicamente diseñada para aplicaciones web y de escritorio que requieren interfaces de usuario dinámicas.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520656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57A2816B-1247-0915-DDFE-CAF1AC88EE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3299" y="1878100"/>
            <a:ext cx="9305402" cy="310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587054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15FA5B2-51D8-6D4E-D33D-186C1EFE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🎮 Controller (Controlador)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19DD91A-B746-579E-5FFD-5956E054D6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Responsabilidades:</a:t>
            </a:r>
            <a:endParaRPr lang="es-ES" sz="2400" b="0" i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Manejo de Entrada:</a:t>
            </a:r>
            <a:r>
              <a:rPr lang="es-ES" sz="2400" b="0" i="0">
                <a:effectLst/>
                <a:latin typeface="-apple-system"/>
              </a:rPr>
              <a:t> Procesa acciones del usuario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Coordinación:</a:t>
            </a:r>
            <a:r>
              <a:rPr lang="es-ES" sz="2400" b="0" i="0">
                <a:effectLst/>
                <a:latin typeface="-apple-system"/>
              </a:rPr>
              <a:t> Decide qué modelo usar y qué vista mostrar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Flujo de Control:</a:t>
            </a:r>
            <a:r>
              <a:rPr lang="es-ES" sz="2400" b="0" i="0">
                <a:effectLst/>
                <a:latin typeface="-apple-system"/>
              </a:rPr>
              <a:t> Maneja la navegación y el estado de la aplicación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765905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Imagen que contiene Texto&#10;&#10;Descripción generada automáticamente">
            <a:extLst>
              <a:ext uri="{FF2B5EF4-FFF2-40B4-BE49-F238E27FC236}">
                <a16:creationId xmlns:a16="http://schemas.microsoft.com/office/drawing/2014/main" id="{7607A139-4EC3-66F9-D105-A7378A7CB0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6842" y="436083"/>
            <a:ext cx="5511268" cy="5500483"/>
          </a:xfrm>
          <a:prstGeom prst="rect">
            <a:avLst/>
          </a:prstGeom>
        </p:spPr>
      </p:pic>
      <p:pic>
        <p:nvPicPr>
          <p:cNvPr id="7" name="Imagen 6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79BBA62C-9892-DD01-5878-C4244AAC631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07188" y="921434"/>
            <a:ext cx="6484812" cy="4119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0223251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D3A5268-AFE5-C1BD-0A85-3460FB085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📊 Model (Modelo)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53E6167-6BA4-EE2F-D254-930AB0213C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>
                <a:effectLst/>
                <a:latin typeface="-apple-system"/>
              </a:rPr>
              <a:t>Responsabilidades:</a:t>
            </a:r>
            <a:endParaRPr lang="es-ES" sz="2400" b="0" i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Datos:</a:t>
            </a:r>
            <a:r>
              <a:rPr lang="es-ES" sz="2400" b="0" i="0">
                <a:effectLst/>
                <a:latin typeface="-apple-system"/>
              </a:rPr>
              <a:t> Representa la información de la aplicación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Estado:</a:t>
            </a:r>
            <a:r>
              <a:rPr lang="es-ES" sz="2400" b="0" i="0">
                <a:effectLst/>
                <a:latin typeface="-apple-system"/>
              </a:rPr>
              <a:t> Mantiene el estado actual de la aplicación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Lógica de Dominio:</a:t>
            </a:r>
            <a:r>
              <a:rPr lang="es-ES" sz="2400" b="0" i="0">
                <a:effectLst/>
                <a:latin typeface="-apple-system"/>
              </a:rPr>
              <a:t> Encapsula reglas de negocio específicas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>
                <a:effectLst/>
                <a:latin typeface="-apple-system"/>
              </a:rPr>
              <a:t>Notificaciones:</a:t>
            </a:r>
            <a:r>
              <a:rPr lang="es-ES" sz="2400" b="0" i="0">
                <a:effectLst/>
                <a:latin typeface="-apple-system"/>
              </a:rPr>
              <a:t> Informa cambios a las vistas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433194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, Aplicación&#10;&#10;Descripción generada automáticamente">
            <a:extLst>
              <a:ext uri="{FF2B5EF4-FFF2-40B4-BE49-F238E27FC236}">
                <a16:creationId xmlns:a16="http://schemas.microsoft.com/office/drawing/2014/main" id="{8CA940F7-F802-F569-8EF0-A3DEB2281A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708" y="188784"/>
            <a:ext cx="5533292" cy="6480432"/>
          </a:xfrm>
          <a:prstGeom prst="rect">
            <a:avLst/>
          </a:prstGeom>
        </p:spPr>
      </p:pic>
      <p:pic>
        <p:nvPicPr>
          <p:cNvPr id="7" name="Imagen 6" descr="Aplicación&#10;&#10;Descripción generada automáticamente con confianza baja">
            <a:extLst>
              <a:ext uri="{FF2B5EF4-FFF2-40B4-BE49-F238E27FC236}">
                <a16:creationId xmlns:a16="http://schemas.microsoft.com/office/drawing/2014/main" id="{FC673BBA-33C2-8EF5-2ECE-4F5174B43E1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5574" y="1962062"/>
            <a:ext cx="5867752" cy="2933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4672280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2E45D5F-1BD0-6064-52B0-AFC7DDFAEF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🖼️ View (Vista)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FFB570-08E1-B936-859C-5F84CBD1F5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Responsabilidades:</a:t>
            </a:r>
            <a:endParaRPr lang="es-ES" sz="24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Presentación:</a:t>
            </a:r>
            <a:r>
              <a:rPr lang="es-ES" sz="2400" b="0" i="0" dirty="0">
                <a:effectLst/>
                <a:latin typeface="-apple-system"/>
              </a:rPr>
              <a:t> Cómo se muestran los datos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Interacción:</a:t>
            </a:r>
            <a:r>
              <a:rPr lang="es-ES" sz="2400" b="0" i="0" dirty="0">
                <a:effectLst/>
                <a:latin typeface="-apple-system"/>
              </a:rPr>
              <a:t> Elementos con los que el usuario interactúa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>
                <a:effectLst/>
                <a:latin typeface="-apple-system"/>
              </a:rPr>
              <a:t>Formateo:</a:t>
            </a:r>
            <a:r>
              <a:rPr lang="es-ES" sz="2400" b="0" i="0" dirty="0">
                <a:effectLst/>
                <a:latin typeface="-apple-system"/>
              </a:rPr>
              <a:t> Transformación de datos para mostrar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i="0" dirty="0" err="1">
                <a:effectLst/>
                <a:latin typeface="-apple-system"/>
              </a:rPr>
              <a:t>Responsividad</a:t>
            </a:r>
            <a:r>
              <a:rPr lang="es-ES" sz="2400" b="1" i="0" dirty="0">
                <a:effectLst/>
                <a:latin typeface="-apple-system"/>
              </a:rPr>
              <a:t>:</a:t>
            </a:r>
            <a:r>
              <a:rPr lang="es-ES" sz="2400" b="0" i="0" dirty="0">
                <a:effectLst/>
                <a:latin typeface="-apple-system"/>
              </a:rPr>
              <a:t> Adaptación a diferentes dispositivos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062600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2E55F6CB-C379-3A7F-B057-6216F1353D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1119" y="122056"/>
            <a:ext cx="5284881" cy="6613888"/>
          </a:xfrm>
          <a:prstGeom prst="rect">
            <a:avLst/>
          </a:prstGeom>
        </p:spPr>
      </p:pic>
      <p:pic>
        <p:nvPicPr>
          <p:cNvPr id="7" name="Imagen 6" descr="Interfaz de usuario gráfica, Texto, Aplicación, Correo electrónico&#10;&#10;Descripción generada automáticamente">
            <a:extLst>
              <a:ext uri="{FF2B5EF4-FFF2-40B4-BE49-F238E27FC236}">
                <a16:creationId xmlns:a16="http://schemas.microsoft.com/office/drawing/2014/main" id="{C54BF36E-09B5-1B5F-9B39-BDA8E0FDAF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55498" y="1252026"/>
            <a:ext cx="6014582" cy="3887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406749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37706E6C-B22E-9FEE-A748-3BCA891578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3269" y="1266092"/>
            <a:ext cx="10805462" cy="411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1540446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56A5FBFD-41FD-5A64-3208-1C6CB93DB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559" y="1396105"/>
            <a:ext cx="11488114" cy="35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0724125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733408-09CB-0E25-873E-2DB08B429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🎯 Ventajas Específicas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E8635-39A6-E037-B8E0-C0DCC1CD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1. 🛠️ Mantenibilidad</a:t>
            </a:r>
            <a:endParaRPr lang="es-ES" sz="24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Cambios aislados en cada capa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Bugs más fáciles de localizar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 err="1">
                <a:effectLst/>
                <a:latin typeface="-apple-system"/>
              </a:rPr>
              <a:t>Refactoring</a:t>
            </a:r>
            <a:r>
              <a:rPr lang="es-ES" sz="2400" b="0" i="0" dirty="0">
                <a:effectLst/>
                <a:latin typeface="-apple-system"/>
              </a:rPr>
              <a:t> seguro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422878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733408-09CB-0E25-873E-2DB08B429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🎯 Ventajas Específicas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E8635-39A6-E037-B8E0-C0DCC1CD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2. 🔄 Reutilización</a:t>
            </a:r>
            <a:endParaRPr lang="es-ES" sz="24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Lógica de negocio independiente de la UI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Servicios utilizables desde múltiples interfaces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Componentes modulares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8150577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733408-09CB-0E25-873E-2DB08B429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🎯 Ventajas Específicas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E8635-39A6-E037-B8E0-C0DCC1CD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2400" b="1" i="0" dirty="0">
                <a:effectLst/>
                <a:latin typeface="-apple-system"/>
              </a:rPr>
              <a:t>3. ✅ Testabilidad</a:t>
            </a:r>
            <a:endParaRPr lang="es-CL" sz="24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0" i="0" dirty="0">
                <a:effectLst/>
                <a:latin typeface="-apple-system"/>
              </a:rPr>
              <a:t>Cada capa se puede testear independientemente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0" i="0" dirty="0" err="1">
                <a:effectLst/>
                <a:latin typeface="-apple-system"/>
              </a:rPr>
              <a:t>Mocking</a:t>
            </a:r>
            <a:r>
              <a:rPr lang="es-CL" sz="2400" b="0" i="0" dirty="0">
                <a:effectLst/>
                <a:latin typeface="-apple-system"/>
              </a:rPr>
              <a:t> sencillo de dependencias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CL" sz="2400" b="0" i="0" dirty="0">
                <a:effectLst/>
                <a:latin typeface="-apple-system"/>
              </a:rPr>
              <a:t>Tests unitarios enfocados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196267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733408-09CB-0E25-873E-2DB08B429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🎯 Ventajas Específicas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E8635-39A6-E037-B8E0-C0DCC1CD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4. 👥 Trabajo en Equipo</a:t>
            </a:r>
            <a:endParaRPr lang="es-ES" sz="24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Equipos pueden trabajar en paralelo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Especialización por capas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Interfaces claras entre equipos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583906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9733408-09CB-0E25-873E-2DB08B429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🎯 Ventajas Específicas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80E8635-39A6-E037-B8E0-C0DCC1CD0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400" b="1" i="0" dirty="0">
                <a:effectLst/>
                <a:latin typeface="-apple-system"/>
              </a:rPr>
              <a:t>5. 📈 Escalabilidad</a:t>
            </a:r>
            <a:endParaRPr lang="es-ES" sz="24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Capas pueden desplegarse independientemente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Escalado horizontal por responsabilidad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0" i="0" dirty="0">
                <a:effectLst/>
                <a:latin typeface="-apple-system"/>
              </a:rPr>
              <a:t>Microservicios como evolución natural</a:t>
            </a:r>
          </a:p>
          <a:p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90376958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15178ABC-898B-9634-5F56-827B8A2540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649" y="2095314"/>
            <a:ext cx="11650701" cy="26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6788077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CC7D015-0DD8-420F-A568-AC4FEDC41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486552C-ABAC-2169-DD3F-54828BFE18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9"/>
            <a:ext cx="4155825" cy="5571898"/>
          </a:xfrm>
        </p:spPr>
        <p:txBody>
          <a:bodyPr>
            <a:normAutofit/>
          </a:bodyPr>
          <a:lstStyle/>
          <a:p>
            <a:r>
              <a:rPr lang="es-ES" b="1" i="0" dirty="0">
                <a:effectLst/>
                <a:latin typeface="-apple-system"/>
              </a:rPr>
              <a:t>🎯 Actividad de Reflexión: Casos de Uso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2E233A6-7AA3-9D7B-496B-D697252701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52" y="557189"/>
            <a:ext cx="6167246" cy="557189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2000" b="1" i="0" dirty="0">
                <a:effectLst/>
                <a:latin typeface="-apple-system"/>
              </a:rPr>
              <a:t>Escenarios para análisis grupal:</a:t>
            </a:r>
            <a:endParaRPr lang="es-ES" sz="2000" b="0" i="0" dirty="0">
              <a:effectLst/>
              <a:latin typeface="-apple-system"/>
            </a:endParaRPr>
          </a:p>
          <a:p>
            <a:pPr>
              <a:buFont typeface="+mj-lt"/>
              <a:buAutoNum type="arabicPeriod"/>
            </a:pPr>
            <a:r>
              <a:rPr lang="es-ES" sz="2000" b="1" i="0" dirty="0">
                <a:effectLst/>
                <a:latin typeface="-apple-system"/>
              </a:rPr>
              <a:t>Sistema de inventario de farmacia</a:t>
            </a:r>
            <a:endParaRPr lang="es-ES" sz="2000" b="0" i="0" dirty="0">
              <a:effectLst/>
              <a:latin typeface="-apple-system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s-ES" sz="2000" b="0" i="0" dirty="0">
                <a:effectLst/>
                <a:latin typeface="-apple-system"/>
              </a:rPr>
              <a:t>¿Qué capas necesitarían?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0" i="0" dirty="0">
                <a:effectLst/>
                <a:latin typeface="-apple-system"/>
              </a:rPr>
              <a:t>¿Qué reglas de negocio específicas?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0" i="0" dirty="0">
                <a:effectLst/>
                <a:latin typeface="-apple-system"/>
              </a:rPr>
              <a:t>¿Cómo manejar prescripciones médicas?</a:t>
            </a:r>
          </a:p>
          <a:p>
            <a:pPr>
              <a:buFont typeface="+mj-lt"/>
              <a:buAutoNum type="arabicPeriod"/>
            </a:pPr>
            <a:r>
              <a:rPr lang="es-ES" sz="2000" b="1" i="0" dirty="0">
                <a:effectLst/>
                <a:latin typeface="-apple-system"/>
              </a:rPr>
              <a:t>E-</a:t>
            </a:r>
            <a:r>
              <a:rPr lang="es-ES" sz="2000" b="1" i="0" dirty="0" err="1">
                <a:effectLst/>
                <a:latin typeface="-apple-system"/>
              </a:rPr>
              <a:t>commerce</a:t>
            </a:r>
            <a:r>
              <a:rPr lang="es-ES" sz="2000" b="1" i="0" dirty="0">
                <a:effectLst/>
                <a:latin typeface="-apple-system"/>
              </a:rPr>
              <a:t> de ropa</a:t>
            </a:r>
            <a:endParaRPr lang="es-ES" sz="2000" b="0" i="0" dirty="0">
              <a:effectLst/>
              <a:latin typeface="-apple-system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s-ES" sz="2000" b="0" i="0" dirty="0">
                <a:effectLst/>
                <a:latin typeface="-apple-system"/>
              </a:rPr>
              <a:t>¿Cómo separar catálogo, carrito y pagos?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0" i="0" dirty="0">
                <a:effectLst/>
                <a:latin typeface="-apple-system"/>
              </a:rPr>
              <a:t>¿Qué validaciones por capa?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0" i="0" dirty="0">
                <a:effectLst/>
                <a:latin typeface="-apple-system"/>
              </a:rPr>
              <a:t>¿Cómo integrar con </a:t>
            </a:r>
            <a:r>
              <a:rPr lang="es-ES" sz="2000" b="0" i="0" dirty="0" err="1">
                <a:effectLst/>
                <a:latin typeface="-apple-system"/>
              </a:rPr>
              <a:t>APIs</a:t>
            </a:r>
            <a:r>
              <a:rPr lang="es-ES" sz="2000" b="0" i="0" dirty="0">
                <a:effectLst/>
                <a:latin typeface="-apple-system"/>
              </a:rPr>
              <a:t> externas?</a:t>
            </a:r>
          </a:p>
          <a:p>
            <a:pPr>
              <a:buFont typeface="+mj-lt"/>
              <a:buAutoNum type="arabicPeriod"/>
            </a:pPr>
            <a:r>
              <a:rPr lang="es-ES" sz="2000" b="1" i="0" dirty="0">
                <a:effectLst/>
                <a:latin typeface="-apple-system"/>
              </a:rPr>
              <a:t>Sistema académico universitario</a:t>
            </a:r>
            <a:endParaRPr lang="es-ES" sz="2000" b="0" i="0" dirty="0">
              <a:effectLst/>
              <a:latin typeface="-apple-system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es-ES" sz="2000" b="0" i="0" dirty="0">
                <a:effectLst/>
                <a:latin typeface="-apple-system"/>
              </a:rPr>
              <a:t>¿Cómo manejar estudiantes, cursos y notas?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0" i="0" dirty="0">
                <a:effectLst/>
                <a:latin typeface="-apple-system"/>
              </a:rPr>
              <a:t>¿Qué reglas de negocio académicas?</a:t>
            </a:r>
          </a:p>
          <a:p>
            <a:pPr marL="742950" lvl="1" indent="-285750">
              <a:buFont typeface="+mj-lt"/>
              <a:buAutoNum type="arabicPeriod"/>
            </a:pPr>
            <a:r>
              <a:rPr lang="es-ES" sz="2000" b="0" i="0" dirty="0">
                <a:effectLst/>
                <a:latin typeface="-apple-system"/>
              </a:rPr>
              <a:t>¿Cómo generar reportes?</a:t>
            </a:r>
          </a:p>
          <a:p>
            <a:endParaRPr lang="es-CL" sz="2000" dirty="0"/>
          </a:p>
        </p:txBody>
      </p:sp>
    </p:spTree>
    <p:extLst>
      <p:ext uri="{BB962C8B-B14F-4D97-AF65-F5344CB8AC3E}">
        <p14:creationId xmlns:p14="http://schemas.microsoft.com/office/powerpoint/2010/main" val="1149614391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DC37533-F10C-21F5-B81A-CE7A7BBC9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 dirty="0">
                <a:effectLst/>
                <a:latin typeface="-apple-system"/>
              </a:rPr>
              <a:t>💡 Principios de Diseño Aplicados</a:t>
            </a:r>
            <a:endParaRPr lang="es-CL" sz="4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4C4B4E4-F678-C623-1EDB-9FB5EAA817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CL" sz="2400" b="1" i="0">
                <a:effectLst/>
                <a:latin typeface="-apple-system"/>
              </a:rPr>
              <a:t>🔧 SOLID en Arquitectura por Capas</a:t>
            </a:r>
          </a:p>
          <a:p>
            <a:pPr marL="0" indent="0">
              <a:buNone/>
            </a:pPr>
            <a:r>
              <a:rPr lang="es-CL" sz="2400" b="1" i="0">
                <a:effectLst/>
                <a:latin typeface="-apple-system"/>
              </a:rPr>
              <a:t>S - Single Responsibility:</a:t>
            </a:r>
            <a:r>
              <a:rPr lang="es-CL" sz="2400" b="0" i="0">
                <a:effectLst/>
                <a:latin typeface="-apple-system"/>
              </a:rPr>
              <a:t> Cada capa tiene una responsabilidad única</a:t>
            </a:r>
            <a:br>
              <a:rPr lang="es-CL" sz="2400" b="0" i="0">
                <a:effectLst/>
                <a:latin typeface="-apple-system"/>
              </a:rPr>
            </a:br>
            <a:r>
              <a:rPr lang="es-CL" sz="2400" b="1" i="0">
                <a:effectLst/>
                <a:latin typeface="-apple-system"/>
              </a:rPr>
              <a:t>O - Open/Closed:</a:t>
            </a:r>
            <a:r>
              <a:rPr lang="es-CL" sz="2400" b="0" i="0">
                <a:effectLst/>
                <a:latin typeface="-apple-system"/>
              </a:rPr>
              <a:t> Nuevas funcionalidades se agregan sin modificar existentes</a:t>
            </a:r>
            <a:br>
              <a:rPr lang="es-CL" sz="2400" b="0" i="0">
                <a:effectLst/>
                <a:latin typeface="-apple-system"/>
              </a:rPr>
            </a:br>
            <a:r>
              <a:rPr lang="es-CL" sz="2400" b="1" i="0">
                <a:effectLst/>
                <a:latin typeface="-apple-system"/>
              </a:rPr>
              <a:t>L - Liskov Substitution:</a:t>
            </a:r>
            <a:r>
              <a:rPr lang="es-CL" sz="2400" b="0" i="0">
                <a:effectLst/>
                <a:latin typeface="-apple-system"/>
              </a:rPr>
              <a:t> Interfaces permiten cambiar implementaciones</a:t>
            </a:r>
            <a:br>
              <a:rPr lang="es-CL" sz="2400" b="0" i="0">
                <a:effectLst/>
                <a:latin typeface="-apple-system"/>
              </a:rPr>
            </a:br>
            <a:r>
              <a:rPr lang="es-CL" sz="2400" b="1" i="0">
                <a:effectLst/>
                <a:latin typeface="-apple-system"/>
              </a:rPr>
              <a:t>I - Interface Segregation:</a:t>
            </a:r>
            <a:r>
              <a:rPr lang="es-CL" sz="2400" b="0" i="0">
                <a:effectLst/>
                <a:latin typeface="-apple-system"/>
              </a:rPr>
              <a:t> Contratos específicos entre capas</a:t>
            </a:r>
            <a:br>
              <a:rPr lang="es-CL" sz="2400" b="0" i="0">
                <a:effectLst/>
                <a:latin typeface="-apple-system"/>
              </a:rPr>
            </a:br>
            <a:r>
              <a:rPr lang="es-CL" sz="2400" b="1" i="0">
                <a:effectLst/>
                <a:latin typeface="-apple-system"/>
              </a:rPr>
              <a:t>D - Dependency Inversion:</a:t>
            </a:r>
            <a:r>
              <a:rPr lang="es-CL" sz="2400" b="0" i="0">
                <a:effectLst/>
                <a:latin typeface="-apple-system"/>
              </a:rPr>
              <a:t> Capas superiores no dependen de implementaciones</a:t>
            </a:r>
          </a:p>
          <a:p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2674940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73AC4A9-103C-72C6-C383-C51566A7F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🏗️ Preparación para Tecnologías Futuras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B2294FD-4DDC-7480-780A-F1A6B354E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s-ES" sz="1900" b="0" i="0" dirty="0">
                <a:effectLst/>
                <a:latin typeface="-apple-system"/>
              </a:rPr>
              <a:t>Esta base conceptual les permitirá entender: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900" b="1" i="0" dirty="0">
                <a:effectLst/>
                <a:latin typeface="-apple-system"/>
              </a:rPr>
              <a:t>ASP.NET Core MVC</a:t>
            </a:r>
            <a:r>
              <a:rPr lang="es-ES" sz="1900" b="0" i="0" dirty="0">
                <a:effectLst/>
                <a:latin typeface="-apple-system"/>
              </a:rPr>
              <a:t> (próximas clases)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s-ES" sz="1900" b="1" i="0" dirty="0">
                <a:effectLst/>
                <a:latin typeface="-apple-system"/>
              </a:rPr>
              <a:t>Web </a:t>
            </a:r>
            <a:r>
              <a:rPr lang="es-ES" sz="1900" b="1" i="0" dirty="0" err="1">
                <a:effectLst/>
                <a:latin typeface="-apple-system"/>
              </a:rPr>
              <a:t>APIs</a:t>
            </a:r>
            <a:r>
              <a:rPr lang="es-ES" sz="1900" b="1" i="0" dirty="0">
                <a:effectLst/>
                <a:latin typeface="-apple-system"/>
              </a:rPr>
              <a:t> </a:t>
            </a:r>
            <a:r>
              <a:rPr lang="es-ES" sz="1900" b="1" i="0" dirty="0" err="1">
                <a:effectLst/>
                <a:latin typeface="-apple-system"/>
              </a:rPr>
              <a:t>RESTful</a:t>
            </a:r>
            <a:endParaRPr lang="es-ES" sz="19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900" b="1" i="0" dirty="0">
                <a:effectLst/>
                <a:latin typeface="-apple-system"/>
              </a:rPr>
              <a:t>Microservicios</a:t>
            </a:r>
            <a:endParaRPr lang="es-ES" sz="19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900" b="1" i="0" dirty="0" err="1">
                <a:effectLst/>
                <a:latin typeface="-apple-system"/>
              </a:rPr>
              <a:t>Clean</a:t>
            </a:r>
            <a:r>
              <a:rPr lang="es-ES" sz="1900" b="1" i="0" dirty="0">
                <a:effectLst/>
                <a:latin typeface="-apple-system"/>
              </a:rPr>
              <a:t> </a:t>
            </a:r>
            <a:r>
              <a:rPr lang="es-ES" sz="1900" b="1" i="0" dirty="0" err="1">
                <a:effectLst/>
                <a:latin typeface="-apple-system"/>
              </a:rPr>
              <a:t>Architecture</a:t>
            </a:r>
            <a:endParaRPr lang="es-ES" sz="1900" b="0" i="0" dirty="0">
              <a:effectLst/>
              <a:latin typeface="-apple-system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1900" b="1" i="0" dirty="0" err="1">
                <a:effectLst/>
                <a:latin typeface="-apple-system"/>
              </a:rPr>
              <a:t>Domain-Driven</a:t>
            </a:r>
            <a:r>
              <a:rPr lang="es-ES" sz="1900" b="1" i="0" dirty="0">
                <a:effectLst/>
                <a:latin typeface="-apple-system"/>
              </a:rPr>
              <a:t> </a:t>
            </a:r>
            <a:r>
              <a:rPr lang="es-ES" sz="1900" b="1" i="0" dirty="0" err="1">
                <a:effectLst/>
                <a:latin typeface="-apple-system"/>
              </a:rPr>
              <a:t>Design</a:t>
            </a:r>
            <a:r>
              <a:rPr lang="es-ES" sz="1900" b="1" i="0" dirty="0">
                <a:effectLst/>
                <a:latin typeface="-apple-system"/>
              </a:rPr>
              <a:t> (DDD)</a:t>
            </a:r>
            <a:endParaRPr lang="es-ES" sz="1900" b="0" i="0" dirty="0">
              <a:effectLst/>
              <a:latin typeface="-apple-system"/>
            </a:endParaRPr>
          </a:p>
          <a:p>
            <a:pPr marL="0" indent="0">
              <a:buNone/>
            </a:pPr>
            <a:r>
              <a:rPr lang="es-ES" sz="1900" b="1" i="0" dirty="0">
                <a:effectLst/>
                <a:latin typeface="-apple-system"/>
              </a:rPr>
              <a:t>💭 Reflexión final:</a:t>
            </a:r>
            <a:r>
              <a:rPr lang="es-ES" sz="1900" b="0" i="0" dirty="0">
                <a:effectLst/>
                <a:latin typeface="-apple-system"/>
              </a:rPr>
              <a:t> La programación por capas no es solo una técnica, es una </a:t>
            </a:r>
            <a:r>
              <a:rPr lang="es-ES" sz="1900" b="1" i="0" dirty="0">
                <a:effectLst/>
                <a:latin typeface="-apple-system"/>
              </a:rPr>
              <a:t>mentalidad</a:t>
            </a:r>
            <a:r>
              <a:rPr lang="es-ES" sz="1900" b="0" i="0" dirty="0">
                <a:effectLst/>
                <a:latin typeface="-apple-system"/>
              </a:rPr>
              <a:t> de organizar código que escala desde aplicaciones simples hasta sistemas empresariales complejos.</a:t>
            </a:r>
          </a:p>
          <a:p>
            <a:endParaRPr lang="es-CL" sz="19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92154660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5B339F4-93B9-4E04-9721-143AD6782E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8734DDD3-F723-4DD3-8ABE-EC0B2AC87D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522324" y="0"/>
            <a:ext cx="7147352" cy="5777808"/>
            <a:chOff x="329184" y="1"/>
            <a:chExt cx="524256" cy="5777808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F7C8EA93-3210-4C62-99E9-153C275E3A8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329184" y="5777809"/>
              <a:ext cx="523824" cy="0"/>
            </a:xfrm>
            <a:prstGeom prst="line">
              <a:avLst/>
            </a:prstGeom>
            <a:ln w="1524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EB7D2A2-F448-44D4-938C-DC84CBCB3B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29184" y="1"/>
              <a:ext cx="524256" cy="553211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3" name="Rectangle 12">
            <a:extLst>
              <a:ext uri="{FF2B5EF4-FFF2-40B4-BE49-F238E27FC236}">
                <a16:creationId xmlns:a16="http://schemas.microsoft.com/office/drawing/2014/main" id="{871AEA07-1E14-44B4-8E55-64EF049CD6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96464" y="551961"/>
            <a:ext cx="10999072" cy="53251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34C1185-0CD5-85C6-957C-6DE8DACA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231961"/>
            <a:ext cx="9144000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Estructuras de Control en C# 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87762625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9BA354B-8C7F-1CDA-0A24-1AEBCA9D6C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ES" sz="4800" b="1" i="0">
                <a:effectLst/>
                <a:latin typeface="-apple-system"/>
              </a:rPr>
              <a:t>🔄 ¿Por qué las Estructuras de Control son Fundamentales?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1A84B0-F578-F8C4-4346-E2ACF96E96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s-ES" sz="2400" b="1" i="0">
                <a:effectLst/>
                <a:latin typeface="-apple-system"/>
              </a:rPr>
              <a:t>Pregunta motivadora:</a:t>
            </a:r>
            <a:r>
              <a:rPr lang="es-ES" sz="2400" b="0" i="0">
                <a:effectLst/>
                <a:latin typeface="-apple-system"/>
              </a:rPr>
              <a:t> </a:t>
            </a:r>
            <a:r>
              <a:rPr lang="es-ES" sz="2400" b="0" i="1">
                <a:effectLst/>
                <a:latin typeface="-apple-system"/>
              </a:rPr>
              <a:t>"¿Cómo las estructuras de control en C# se integran con los principios de POO que ya conocen?"</a:t>
            </a:r>
            <a:endParaRPr lang="es-CL" sz="240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797264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36B289B-8193-FE7A-DD6F-1863208D53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es-CL" sz="4800" b="1" i="0">
                <a:effectLst/>
                <a:latin typeface="-apple-system"/>
              </a:rPr>
              <a:t>📚 Fundamento Teórico: Control + POO</a:t>
            </a:r>
            <a:endParaRPr lang="es-CL" sz="480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7A9A3D-2C26-0BB7-4A87-4C6C3650C7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s-ES" sz="2400" b="0" i="0" dirty="0">
                <a:effectLst/>
                <a:latin typeface="-apple-system"/>
              </a:rPr>
              <a:t>Las estructuras de control no son solo herramientas para dirigir el flujo del programa, sino que en C# están </a:t>
            </a:r>
            <a:r>
              <a:rPr lang="es-ES" sz="2400" b="1" i="0" dirty="0">
                <a:effectLst/>
                <a:latin typeface="-apple-system"/>
              </a:rPr>
              <a:t>íntimamente relacionadas</a:t>
            </a:r>
            <a:r>
              <a:rPr lang="es-ES" sz="2400" b="0" i="0" dirty="0">
                <a:effectLst/>
                <a:latin typeface="-apple-system"/>
              </a:rPr>
              <a:t> con los principios de programación orientada a objetos:</a:t>
            </a:r>
            <a:endParaRPr lang="es-CL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976784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F613B64D-8C6A-0DE7-02B1-5447CA3964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1099" y="756864"/>
            <a:ext cx="8249801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3900221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7568D7-33BB-C366-67F2-7F1072C86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b="1" i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🎯 Estructuras Condicionales: Más Allá del if/else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9AC579A9-5052-4DBC-F8D4-4E914B97C86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111" y="342581"/>
            <a:ext cx="7594437" cy="5961632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419757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Texto&#10;&#10;Descripción generada automáticamente">
            <a:extLst>
              <a:ext uri="{FF2B5EF4-FFF2-40B4-BE49-F238E27FC236}">
                <a16:creationId xmlns:a16="http://schemas.microsoft.com/office/drawing/2014/main" id="{CAC5CC64-05FE-EF0A-4CD2-C46EF8BCDE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1904" y="151131"/>
            <a:ext cx="6566293" cy="6555737"/>
          </a:xfrm>
          <a:prstGeom prst="rect">
            <a:avLst/>
          </a:prstGeom>
        </p:spPr>
      </p:pic>
      <p:pic>
        <p:nvPicPr>
          <p:cNvPr id="7" name="Imagen 6" descr="Texto&#10;&#10;Descripción generada automáticamente">
            <a:extLst>
              <a:ext uri="{FF2B5EF4-FFF2-40B4-BE49-F238E27FC236}">
                <a16:creationId xmlns:a16="http://schemas.microsoft.com/office/drawing/2014/main" id="{9A375504-FAE0-1331-07CA-4B9536457A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26678" y="2096087"/>
            <a:ext cx="6365322" cy="2390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623879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7F654D17-96B2-83B3-C1A0-66BA1412E1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597" y="1423707"/>
            <a:ext cx="11326806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582746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2140</Words>
  <Application>Microsoft Office PowerPoint</Application>
  <PresentationFormat>Panorámica</PresentationFormat>
  <Paragraphs>257</Paragraphs>
  <Slides>92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92</vt:i4>
      </vt:variant>
    </vt:vector>
  </HeadingPairs>
  <TitlesOfParts>
    <vt:vector size="98" baseType="lpstr">
      <vt:lpstr>-apple-system</vt:lpstr>
      <vt:lpstr>Arial</vt:lpstr>
      <vt:lpstr>Calibri</vt:lpstr>
      <vt:lpstr>Calibri Light</vt:lpstr>
      <vt:lpstr>Fira Code</vt:lpstr>
      <vt:lpstr>Tema de Office</vt:lpstr>
      <vt:lpstr>Plataforma .NET: Framework/.NET CORE y Comparativa entre TS y C#</vt:lpstr>
      <vt:lpstr>Fundamentos .NET</vt:lpstr>
      <vt:lpstr>📚 Contexto Histórico: La "Guerra de Plataformas" (1990s)</vt:lpstr>
      <vt:lpstr>🥊 La Respuesta de Microsoft: .NET (2000)</vt:lpstr>
      <vt:lpstr>📊 Comparación Java vs .NET (Diseño Original)</vt:lpstr>
      <vt:lpstr>🎭 Las Estrategias Competitivas</vt:lpstr>
      <vt:lpstr>🕰️ Timeline Completo: Java vs .NET</vt:lpstr>
      <vt:lpstr>💡 Conceptos Clave Compartidos</vt:lpstr>
      <vt:lpstr>🎯 ¿Por qué .NET "ganó" en el ecosistema Microsoft?</vt:lpstr>
      <vt:lpstr>⚙️ Componentes Principales de .NET</vt:lpstr>
      <vt:lpstr>🔍 Explicación Detallada de Componentes:</vt:lpstr>
      <vt:lpstr>🔍 Explicación Detallada de Componentes:</vt:lpstr>
      <vt:lpstr>🔍 Explicación Detallada de Componentes:</vt:lpstr>
      <vt:lpstr>Presentación de PowerPoint</vt:lpstr>
      <vt:lpstr>📊 Comparativa Práctica: </vt:lpstr>
      <vt:lpstr>🤔 Reflexión grupal:</vt:lpstr>
      <vt:lpstr>💡 Respuestas esperadas:</vt:lpstr>
      <vt:lpstr>Comparativa TypeScript vs C# - Del Frontend al Backend</vt:lpstr>
      <vt:lpstr>Presentación de PowerPoint</vt:lpstr>
      <vt:lpstr>📚 Fundamentos Teóricos: Similitudes Arquitectónicas</vt:lpstr>
      <vt:lpstr>Presentación de PowerPoint</vt:lpstr>
      <vt:lpstr>Diferencias clave en compilación:</vt:lpstr>
      <vt:lpstr>🔤 Comparativa de Sintaxis: Lado a Lado</vt:lpstr>
      <vt:lpstr>Presentación de PowerPoint</vt:lpstr>
      <vt:lpstr>Presentación de PowerPoint</vt:lpstr>
      <vt:lpstr>📊 Diferencias conceptuales:</vt:lpstr>
      <vt:lpstr>2️⃣ Funciones y Métodos</vt:lpstr>
      <vt:lpstr>2️⃣ Funciones y Métodos</vt:lpstr>
      <vt:lpstr>🔍 Análisis de diferencias:</vt:lpstr>
      <vt:lpstr>3️⃣ Clases y Programación Orientada a Objetos </vt:lpstr>
      <vt:lpstr>3️⃣ Clases y Programación Orientada a Objetos </vt:lpstr>
      <vt:lpstr>3️⃣ Clases y Programación Orientada a Objetos </vt:lpstr>
      <vt:lpstr>🔧 Explicación Profunda: Propiedades Automáticas de C#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🎯 ¿Por qué son útiles las propiedades automáticas?</vt:lpstr>
      <vt:lpstr>Presentación de PowerPoint</vt:lpstr>
      <vt:lpstr>💡 Tip Pedagógico para Estudiantes de TypeScript</vt:lpstr>
      <vt:lpstr>🏗️ Conceptos Avanzados: Diferencias Fundamentales</vt:lpstr>
      <vt:lpstr>🏗️ Conceptos Avanzados: Diferencias Fundamentales</vt:lpstr>
      <vt:lpstr>🔄 Manejo de Tipos Nullable</vt:lpstr>
      <vt:lpstr>🔄 Manejo de Tipos Nullable</vt:lpstr>
      <vt:lpstr>🛠️ Ecosistemas y Herramientas de Desarrollo</vt:lpstr>
      <vt:lpstr>TypeScript:</vt:lpstr>
      <vt:lpstr>C#:</vt:lpstr>
      <vt:lpstr>🎯 Actividad Práctica: "Traducción de Código"</vt:lpstr>
      <vt:lpstr>💭 Reflexión Teórica: ¿Cuándo Usar Cada Uno?</vt:lpstr>
      <vt:lpstr>💭 Reflexión Teórica: ¿Cuándo Usar Cada Uno?</vt:lpstr>
      <vt:lpstr>🤝 Complementariedad en Arquitecturas Modernas</vt:lpstr>
      <vt:lpstr>Arquitectura híbrida moderna:</vt:lpstr>
      <vt:lpstr>Programación por Capas y Patrón MVC en .NET </vt:lpstr>
      <vt:lpstr>🤔 ¿Por qué Programación por Capas?</vt:lpstr>
      <vt:lpstr>Presentación de PowerPoint</vt:lpstr>
      <vt:lpstr>Ejemplo de código problemático:</vt:lpstr>
      <vt:lpstr>¿Qué problemas ves en este código?</vt:lpstr>
      <vt:lpstr>🏗️ La Solución: Arquitectura por Capas</vt:lpstr>
      <vt:lpstr>Presentación de PowerPoint</vt:lpstr>
      <vt:lpstr>🔍 Análisis Detallado de Cada Capa</vt:lpstr>
      <vt:lpstr>Tecnologías en .NET:</vt:lpstr>
      <vt:lpstr>🧠 Capa de Lógica de Negocio (Business Logic Layer)</vt:lpstr>
      <vt:lpstr>Presentación de PowerPoint</vt:lpstr>
      <vt:lpstr>🗄️ Capa de Acceso a Datos (Data Access Layer)</vt:lpstr>
      <vt:lpstr>Presentación de PowerPoint</vt:lpstr>
      <vt:lpstr>🎯 Patrón MVC (Model-View-Controller)</vt:lpstr>
      <vt:lpstr>Presentación de PowerPoint</vt:lpstr>
      <vt:lpstr>🎮 Controller (Controlador)</vt:lpstr>
      <vt:lpstr>Presentación de PowerPoint</vt:lpstr>
      <vt:lpstr>📊 Model (Modelo)</vt:lpstr>
      <vt:lpstr>Presentación de PowerPoint</vt:lpstr>
      <vt:lpstr>🖼️ View (Vista)</vt:lpstr>
      <vt:lpstr>Presentación de PowerPoint</vt:lpstr>
      <vt:lpstr>Presentación de PowerPoint</vt:lpstr>
      <vt:lpstr>Presentación de PowerPoint</vt:lpstr>
      <vt:lpstr>🎯 Ventajas Específicas</vt:lpstr>
      <vt:lpstr>🎯 Ventajas Específicas</vt:lpstr>
      <vt:lpstr>🎯 Ventajas Específicas</vt:lpstr>
      <vt:lpstr>🎯 Ventajas Específicas</vt:lpstr>
      <vt:lpstr>🎯 Ventajas Específicas</vt:lpstr>
      <vt:lpstr>Presentación de PowerPoint</vt:lpstr>
      <vt:lpstr>🎯 Actividad de Reflexión: Casos de Uso</vt:lpstr>
      <vt:lpstr>💡 Principios de Diseño Aplicados</vt:lpstr>
      <vt:lpstr>🏗️ Preparación para Tecnologías Futuras</vt:lpstr>
      <vt:lpstr>Estructuras de Control en C# </vt:lpstr>
      <vt:lpstr>🔄 ¿Por qué las Estructuras de Control son Fundamentales?</vt:lpstr>
      <vt:lpstr>📚 Fundamento Teórico: Control + POO</vt:lpstr>
      <vt:lpstr>Presentación de PowerPoint</vt:lpstr>
      <vt:lpstr>🎯 Estructuras Condicionales: Más Allá del if/else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Plataforma .NET: Framework/.NET CORE y Comparativa entre TS y C#</dc:title>
  <dc:creator>DIEGO MATIAS OBANDO AGUILERA</dc:creator>
  <cp:lastModifiedBy>DIEGO MATIAS OBANDO AGUILERA</cp:lastModifiedBy>
  <cp:revision>4</cp:revision>
  <dcterms:created xsi:type="dcterms:W3CDTF">2025-09-08T03:32:26Z</dcterms:created>
  <dcterms:modified xsi:type="dcterms:W3CDTF">2025-09-08T04:54:53Z</dcterms:modified>
</cp:coreProperties>
</file>