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3" r:id="rId26"/>
    <p:sldId id="279" r:id="rId27"/>
    <p:sldId id="280" r:id="rId28"/>
    <p:sldId id="281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0CA26-76AF-0893-D104-4E9663E06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EAA225-B525-6C85-2B5C-02B564B2B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0FD119-DF52-49BB-8A98-11CF2266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5E5CE2-4FF8-00FA-94C6-ED10B77C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9D67E7-69EE-4C64-29E0-C273A38A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671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0D9F0-E535-2A5B-8F2C-D343677A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AE52CC-5EF7-EEE9-14A4-D5F539F24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86EEF7-1F54-C5ED-61E5-370677FB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B8113-E372-F76E-CECC-373D281D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933A27-39FC-BEC8-E3FB-3272D112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0207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58BA3-924E-F7CC-EDB2-1A7FA6E7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0CB393-E935-1229-080D-35B71B3EE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3B320B-FEB0-CC4E-3AA8-5DC08253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FF8741-A3AE-8DE7-86A1-76DF2068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15C40B-228E-C7B1-DBBE-CA928053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96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94E7E-5F77-557A-5D8C-B654D69A4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1BCBD9-74F4-2B41-66B3-265B48B49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F75D72-7CEF-84E2-4826-CC64C442B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254C11-EA46-8BA0-6256-6BAF8793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386A03-DE86-1AE9-B6B2-3806B9B3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A89D16-B194-94B5-58F1-60F7A7C4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008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EC5D8-DDDC-40C5-3517-4C10099D2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423E09-A7CA-A5C6-60D2-F1193951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2B7EA1-43DE-8C99-371F-D04DB26FD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DB579F-768A-1232-D01C-BF468135B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00D0D0-0FCF-CF01-12BE-517A0FE70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D4C610-5C2D-470D-5493-5BF28A1E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CFB84B-E036-0724-43D8-B9832AAC3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3E5BAA-3426-6594-FFE7-BDE36EDD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291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7004C-5885-D2CD-1E80-E3D45FC90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D2FBB9-5944-0B53-D7F4-0770DC9B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69B4A2-0FDD-E3EA-BA63-14FAE473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67B66E-5C90-37C8-6D4C-34E2D768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697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1BDC57-E6F5-F7C3-A3C2-CC5D4D0D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8426C0-A0D1-9851-D779-2DA899B0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5BC3FF-EF08-2681-6035-65C15EE5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289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47A25-3F2B-CE67-22F1-9083A1BE0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ABCC17-A903-DD26-6904-3FDFFCEB2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BBB4FC-6811-FE3C-00ED-052ED4765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0D5B88-C428-9E50-9BC9-09354601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73A32B-FD7B-2D2F-CD2C-C2F6A994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2D7202-5EA1-462D-C9DE-2B936C41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11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BC71B-4B3D-79ED-552F-4A386F57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84CDB3-8518-24FA-8291-96994D13B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0BD874-50A1-5DB3-4775-758F524CB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B466DB-5079-3235-8848-AC3F5CFBA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686209-F1AA-6557-DABE-6D726C40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B6AD57-493B-EA43-831F-D5CE2C64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416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3CA5C-6452-3120-5645-790CCED2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6C7D5C-24C9-7C50-77C9-FAE4F0093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504BC3-2C5A-2FD7-FCDD-F8055AB7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0F440F-DAB4-F177-01E9-C586E84D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B761FF-F698-6CB1-0F86-05BBDEDA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638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7A3A93-BA32-8FB7-0AC2-88214F23F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AE2A1D-6F0C-CC7F-F08C-FA3CF2EA7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C36E8-9538-0FC5-8587-8C19F7B37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76209-DAE4-5F8D-9DA5-4FADEF91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76138E-7FA9-3F0D-B479-10483FE0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581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EA7FB3-A198-D6DC-7D7D-5A075F30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BBACF0-9D5D-0EEF-0451-95FDABFB3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7E89A2-8490-4E29-4610-36EEDF13C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4A638-A90A-45DB-BE84-355081380122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58B7AE-7CC6-74BD-9373-E321442D1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DD176-8058-7554-8926-7B9E1287C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953B3-F2C8-4AD5-9B41-598CDB76D72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34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A83D46-A954-4FCE-C065-FB12D7ECC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s-CL" sz="5000" b="1" i="0">
                <a:effectLst/>
                <a:latin typeface="-apple-system"/>
              </a:rPr>
              <a:t>Programación por Capas (MVC)</a:t>
            </a:r>
            <a:endParaRPr lang="es-CL" sz="50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B081C8-33DE-FC70-89C3-80B28DD84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1700" b="0" i="0">
                <a:effectLst/>
                <a:latin typeface="-apple-system"/>
              </a:rPr>
              <a:t>Unidad 02: </a:t>
            </a:r>
            <a:r>
              <a:rPr lang="es-ES" sz="1700" b="1" i="0">
                <a:effectLst/>
                <a:latin typeface="-apple-system"/>
              </a:rPr>
              <a:t>Diseño y Programación Orientada a Objetos</a:t>
            </a:r>
            <a:endParaRPr lang="es-ES" sz="1700" b="0" i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700" b="0" i="0">
                <a:effectLst/>
                <a:latin typeface="-apple-system"/>
              </a:rPr>
              <a:t>Fecha: Martes 09 de Septiembre, 2025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700" b="0" i="0">
                <a:effectLst/>
                <a:latin typeface="-apple-system"/>
              </a:rPr>
              <a:t>Horario: 10:50 - 13:30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700" b="0" i="0">
                <a:effectLst/>
                <a:latin typeface="-apple-system"/>
              </a:rPr>
              <a:t>Docente: Diego Obando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L" sz="1700"/>
          </a:p>
        </p:txBody>
      </p:sp>
      <p:grpSp>
        <p:nvGrpSpPr>
          <p:cNvPr id="18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97F975F-020E-779C-DC19-7BF1A0629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557645"/>
            <a:ext cx="5536001" cy="368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70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D43AF6-B6CC-B078-04C6-F54DF432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8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Fundamentos MVC y Arquitectura por Capas</a:t>
            </a: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1E0B944D-C6BA-9569-8D34-C3F6EF3BC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557645"/>
            <a:ext cx="5536001" cy="368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18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2AD911-567A-7846-6986-E04E34D8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🔥 ¿Por qué Necesitamos Arquitectura por Capas?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98FBFD-75C6-7B28-0532-723E2E124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ES" sz="2400" b="1" i="0">
                <a:effectLst/>
                <a:latin typeface="-apple-system"/>
              </a:rPr>
              <a:t>Pregunta motivadora:</a:t>
            </a:r>
            <a:r>
              <a:rPr lang="es-ES" sz="2400" b="0" i="0">
                <a:effectLst/>
                <a:latin typeface="-apple-system"/>
              </a:rPr>
              <a:t> </a:t>
            </a:r>
            <a:r>
              <a:rPr lang="es-ES" sz="2400" b="0" i="1">
                <a:effectLst/>
                <a:latin typeface="-apple-system"/>
              </a:rPr>
              <a:t>"¿Qué pasa cuando tu aplicación crece de 100 líneas a 10,000 líneas de código? ¿Y a 100,000?"</a:t>
            </a:r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790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4365EB-C1D6-8E38-4813-52D1F244C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946" y="2011095"/>
            <a:ext cx="2853279" cy="283517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6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📚 El </a:t>
            </a:r>
            <a:r>
              <a:rPr lang="en-US" sz="4600" b="1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Problema</a:t>
            </a:r>
            <a:r>
              <a:rPr lang="en-US" sz="46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del </a:t>
            </a:r>
            <a:r>
              <a:rPr lang="en-US" sz="4600" b="1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Crecimiento</a:t>
            </a:r>
            <a:r>
              <a:rPr lang="en-US" sz="46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 Software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que contiene Texto&#10;&#10;Descripción generada automáticamente">
            <a:extLst>
              <a:ext uri="{FF2B5EF4-FFF2-40B4-BE49-F238E27FC236}">
                <a16:creationId xmlns:a16="http://schemas.microsoft.com/office/drawing/2014/main" id="{FD240E18-55C8-9133-46A5-3D6E7CCDC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483" y="0"/>
            <a:ext cx="7684516" cy="68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40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D9B67A0F-CFC1-36B0-855D-47A3B0864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60" y="1952419"/>
            <a:ext cx="11679280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65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Escala de tiempo&#10;&#10;Descripción generada automáticamente">
            <a:extLst>
              <a:ext uri="{FF2B5EF4-FFF2-40B4-BE49-F238E27FC236}">
                <a16:creationId xmlns:a16="http://schemas.microsoft.com/office/drawing/2014/main" id="{0F92EF0F-7216-5B54-B776-4AE546BF1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18" y="585390"/>
            <a:ext cx="11383964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41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E62ED-CDB0-4712-78C6-E8A2B66D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546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🏛️ Los 3 Pilares de MVC</a:t>
            </a:r>
            <a:endParaRPr lang="es-CL" dirty="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D92BE19-95EA-E5B0-B18D-173BC8CC9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06" y="1161255"/>
            <a:ext cx="9999588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2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B52F9-6A9B-B7AC-1D60-75D81DDC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🆚 Comparación: Antes vs Después de MVC</a:t>
            </a:r>
            <a:endParaRPr lang="es-CL" dirty="0"/>
          </a:p>
        </p:txBody>
      </p:sp>
      <p:pic>
        <p:nvPicPr>
          <p:cNvPr id="5" name="Imagen 4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CE956A37-BFAE-BB30-3EE1-A716F64C9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5436"/>
            <a:ext cx="5781823" cy="3802428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BBCB3B3-400C-5F4E-B779-217B83F93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823" y="2215436"/>
            <a:ext cx="6268769" cy="271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35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AC9608C2-68CC-5B0F-382B-A401DDBC3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754" y="206007"/>
            <a:ext cx="9090491" cy="644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82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0D1D29-4664-A695-093F-7B1162F1C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🎯 Puntos Clave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A9E43F-8373-7172-9EC9-1F4C75B45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✅ </a:t>
            </a:r>
            <a:r>
              <a:rPr lang="es-ES" sz="2400" b="1" i="0" dirty="0">
                <a:effectLst/>
                <a:latin typeface="-apple-system"/>
              </a:rPr>
              <a:t>MVC no es opcional:</a:t>
            </a:r>
            <a:r>
              <a:rPr lang="es-ES" sz="2400" b="0" i="0" dirty="0">
                <a:effectLst/>
                <a:latin typeface="-apple-system"/>
              </a:rPr>
              <a:t> Es necesario para aplicaciones escalables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✅ </a:t>
            </a:r>
            <a:r>
              <a:rPr lang="es-ES" sz="2400" b="1" i="0" dirty="0">
                <a:effectLst/>
                <a:latin typeface="-apple-system"/>
              </a:rPr>
              <a:t>Separación clara:</a:t>
            </a:r>
            <a:r>
              <a:rPr lang="es-ES" sz="2400" b="0" i="0" dirty="0">
                <a:effectLst/>
                <a:latin typeface="-apple-system"/>
              </a:rPr>
              <a:t> Cada componente tiene una responsabilidad específica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✅ </a:t>
            </a:r>
            <a:r>
              <a:rPr lang="es-ES" sz="2400" b="1" i="0" dirty="0">
                <a:effectLst/>
                <a:latin typeface="-apple-system"/>
              </a:rPr>
              <a:t>Reutilización:</a:t>
            </a:r>
            <a:r>
              <a:rPr lang="es-ES" sz="2400" b="0" i="0" dirty="0">
                <a:effectLst/>
                <a:latin typeface="-apple-system"/>
              </a:rPr>
              <a:t> El mismo modelo puede tener múltiples vistas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✅ </a:t>
            </a:r>
            <a:r>
              <a:rPr lang="es-ES" sz="2400" b="1" i="0" dirty="0">
                <a:effectLst/>
                <a:latin typeface="-apple-system"/>
              </a:rPr>
              <a:t>Testing:</a:t>
            </a:r>
            <a:r>
              <a:rPr lang="es-ES" sz="2400" b="0" i="0" dirty="0">
                <a:effectLst/>
                <a:latin typeface="-apple-system"/>
              </a:rPr>
              <a:t> Cada capa se puede probar independientemente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✅ </a:t>
            </a:r>
            <a:r>
              <a:rPr lang="es-ES" sz="2400" b="1" i="0" dirty="0">
                <a:effectLst/>
                <a:latin typeface="-apple-system"/>
              </a:rPr>
              <a:t>Mantenimiento:</a:t>
            </a:r>
            <a:r>
              <a:rPr lang="es-ES" sz="2400" b="0" i="0" dirty="0">
                <a:effectLst/>
                <a:latin typeface="-apple-system"/>
              </a:rPr>
              <a:t> Cambios en UI no afectan lógica de negocio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418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E065A8-CF1D-4511-78A4-84286052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Repository Pattern + ORM Fundamentals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096BCE89-FEE7-6657-57D0-6988F0B38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808023"/>
            <a:ext cx="5536001" cy="31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30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BDDC23-F060-76F5-8ACC-7BF82D3E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🔥 El Problema: ¿Cómo Conectamos con los Datos?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3EECD6-7F58-9C33-B7F2-3401BFEEA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ES" sz="2400" b="1" i="0">
                <a:effectLst/>
                <a:latin typeface="-apple-system"/>
              </a:rPr>
              <a:t>Pregunta motivadora:</a:t>
            </a:r>
            <a:r>
              <a:rPr lang="es-ES" sz="2400" b="0" i="0">
                <a:effectLst/>
                <a:latin typeface="-apple-system"/>
              </a:rPr>
              <a:t> </a:t>
            </a:r>
            <a:r>
              <a:rPr lang="es-ES" sz="2400" b="0" i="1">
                <a:effectLst/>
                <a:latin typeface="-apple-system"/>
              </a:rPr>
              <a:t>"¿Cómo hacemos que nuestra aplicación MVC se comunique con una base de datos sin crear un desastre de código?"</a:t>
            </a:r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886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7FA66D18-B3D4-198E-9927-5F56A1C98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50634" cy="6857999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B04EAD9-2827-33EA-BE7E-EEEDE2536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231" y="1561514"/>
            <a:ext cx="6508770" cy="348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54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7AD5C723-0373-9156-8A09-7BFF61596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7542"/>
            <a:ext cx="12191999" cy="420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43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67ABAB-52C1-EC61-DB38-0F5CBB11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🎯 Repository Pattern: La Solución Elegante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474EB0-AA59-031C-80AC-1E3B60651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📚 ¿Qué es el </a:t>
            </a:r>
            <a:r>
              <a:rPr lang="es-ES" sz="2400" b="1" i="0" dirty="0" err="1">
                <a:effectLst/>
                <a:latin typeface="-apple-system"/>
              </a:rPr>
              <a:t>Repository</a:t>
            </a:r>
            <a:r>
              <a:rPr lang="es-ES" sz="2400" b="1" i="0" dirty="0">
                <a:effectLst/>
                <a:latin typeface="-apple-system"/>
              </a:rPr>
              <a:t> </a:t>
            </a:r>
            <a:r>
              <a:rPr lang="es-ES" sz="2400" b="1" i="0" dirty="0" err="1">
                <a:effectLst/>
                <a:latin typeface="-apple-system"/>
              </a:rPr>
              <a:t>Pattern</a:t>
            </a:r>
            <a:r>
              <a:rPr lang="es-ES" sz="2400" b="1" i="0" dirty="0">
                <a:effectLst/>
                <a:latin typeface="-apple-system"/>
              </a:rPr>
              <a:t>?</a:t>
            </a:r>
          </a:p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💡 Concepto:</a:t>
            </a:r>
            <a:r>
              <a:rPr lang="es-ES" sz="2400" b="0" i="0" dirty="0">
                <a:effectLst/>
                <a:latin typeface="-apple-system"/>
              </a:rPr>
              <a:t> El </a:t>
            </a:r>
            <a:r>
              <a:rPr lang="es-ES" sz="2400" b="0" i="0" dirty="0" err="1">
                <a:effectLst/>
                <a:latin typeface="-apple-system"/>
              </a:rPr>
              <a:t>Repository</a:t>
            </a:r>
            <a:r>
              <a:rPr lang="es-ES" sz="2400" b="0" i="0" dirty="0">
                <a:effectLst/>
                <a:latin typeface="-apple-system"/>
              </a:rPr>
              <a:t> encapsula la lógica necesaria para acceder a fuentes de datos. Centraliza funcionalidades comunes de acceso a datos, proporcionando mejor mantenibilidad y desacoplando la infraestructura o tecnología usada para acceder a las bases de datos de la capa del modelo de dominio.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668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E6DDA612-024F-357A-F638-1AA9EB9E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388" y="0"/>
            <a:ext cx="781122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12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598215-1E2A-9D1D-5654-5BD5CD74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🏗️ Implementación del Repository Pattern</a:t>
            </a: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0CDAA55-B616-7D57-B19D-37AAE694D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15" y="1"/>
            <a:ext cx="6984284" cy="68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57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788182B4-1D16-9ABE-4DB4-C58B862F5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70" y="689141"/>
            <a:ext cx="11042460" cy="547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07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24FC2C-69D2-5C5D-6DD2-CA29430E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28" y="1147158"/>
            <a:ext cx="6038470" cy="4713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🎯 Visualización Completa: Tabla → SQL → ORM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CF3E3E-24AA-A103-71C0-E16B979DA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590" y="1687486"/>
            <a:ext cx="3300156" cy="36368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Concepto:</a:t>
            </a:r>
            <a:r>
              <a:rPr lang="en-US" sz="24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Veamos cómo la misma información se representa en 3 niveles diferentes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128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A8E6BDDB-DDB2-85D8-145E-3D1902AA1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00" y="156316"/>
            <a:ext cx="3101600" cy="654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37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401557B6-FC28-7B3A-77D7-15F0C5855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744" y="1055520"/>
            <a:ext cx="8266511" cy="47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55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956A7AB-ED01-E53A-67AE-62D2C584A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7" y="379828"/>
            <a:ext cx="5824025" cy="6356416"/>
          </a:xfrm>
          <a:prstGeom prst="rect">
            <a:avLst/>
          </a:prstGeom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923B0D9C-F727-7EC7-987B-A1776911C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856" y="0"/>
            <a:ext cx="4719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25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42794536-9273-8690-9629-47E8676E8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32" y="1"/>
            <a:ext cx="911493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71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8C7F4395-537A-735D-8F1D-7D6B67969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489" y="0"/>
            <a:ext cx="7772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79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9C04FC6-AEFA-39E1-A5A0-E9A7FD588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537" y="742814"/>
            <a:ext cx="8558925" cy="537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29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1D5C2CE-A352-078C-1E09-E46B67EEC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87" y="1298932"/>
            <a:ext cx="10833226" cy="426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85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D945E-AA63-5AF7-1AA0-CB1B2AFB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💡 ¿Cuándo usar cada aproximación?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121B4F-EA2F-F419-F1DC-F46714169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 algn="l">
              <a:buNone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✅ Usar Entity Framework cuando: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CRUD estándar: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Operaciones básicas de crear, leer, actualizar, eliminar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Desarrollo rápido: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Prototipado y aplicaciones de línea de negocio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Equipos mixtos: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Desarrolladores con diferentes niveles de SQL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Mantenimiento: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Aplicaciones que evolucionan frecuentemente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✅ Usar SQL directo cuando: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Performance crítica: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Consultas muy complejas con optimizaciones específicas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Lógica compleja: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Stored procedures, funciones de BD específicas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Reportes: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Consultas analíticas con agregaciones complejas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>
                <a:solidFill>
                  <a:srgbClr val="000000"/>
                </a:solidFill>
                <a:effectLst/>
                <a:latin typeface="-apple-system"/>
              </a:rPr>
              <a:t>BD existente:</a:t>
            </a:r>
            <a:r>
              <a:rPr lang="es-ES" b="0" i="0">
                <a:solidFill>
                  <a:srgbClr val="000000"/>
                </a:solidFill>
                <a:effectLst/>
                <a:latin typeface="-apple-system"/>
              </a:rPr>
              <a:t> Sistemas legacy con esquemas complejos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86199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7DDA6E-2AA7-400F-D787-B2646F2B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3178"/>
            <a:ext cx="10515600" cy="931643"/>
          </a:xfrm>
        </p:spPr>
        <p:txBody>
          <a:bodyPr/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💭 Reflexión: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 El ORM no reemplaza el conocimiento de SQL, ¡lo potencia! Un buen desarrollador entiende qué SQL genera su ORM.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88839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4E9657-3EC6-72F6-41B9-31AE02DDE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APIs REST - El Lenguaje Universal del Backend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Descripción generada automáticamente con confianza baja">
            <a:extLst>
              <a:ext uri="{FF2B5EF4-FFF2-40B4-BE49-F238E27FC236}">
                <a16:creationId xmlns:a16="http://schemas.microsoft.com/office/drawing/2014/main" id="{E5C8DE4C-826E-6CD1-9718-AFD54694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8" y="1338908"/>
            <a:ext cx="7608304" cy="425113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53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8BD32A-26D7-7E6C-B9C9-9D134165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🔍 ¿Qué es una API REST?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88CA37-B5C7-3B42-4E0D-D2BD95B68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💭 Analogía: El Restaurant Digital</a:t>
            </a:r>
          </a:p>
          <a:p>
            <a:pPr marL="0" indent="0">
              <a:buNone/>
            </a:pPr>
            <a:r>
              <a:rPr lang="es-ES" sz="2400" b="0" i="0">
                <a:effectLst/>
                <a:latin typeface="-apple-system"/>
              </a:rPr>
              <a:t>Imaginen un restaurante donde: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👨‍🍳 La cocina</a:t>
            </a:r>
            <a:r>
              <a:rPr lang="es-ES" sz="2400" b="0" i="0">
                <a:effectLst/>
                <a:latin typeface="-apple-system"/>
              </a:rPr>
              <a:t> = Backend (base de datos, lógica de negocio)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👨‍💼 El mesero</a:t>
            </a:r>
            <a:r>
              <a:rPr lang="es-ES" sz="2400" b="0" i="0">
                <a:effectLst/>
                <a:latin typeface="-apple-system"/>
              </a:rPr>
              <a:t> = API 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👥 Los clientes</a:t>
            </a:r>
            <a:r>
              <a:rPr lang="es-ES" sz="2400" b="0" i="0">
                <a:effectLst/>
                <a:latin typeface="-apple-system"/>
              </a:rPr>
              <a:t> = Frontend (web, móvil, otras aplicaciones)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200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D938865-CFCA-2A95-E227-04C45EDBF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1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3DE0056-8748-E378-0087-F350E64D0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52" y="704657"/>
            <a:ext cx="10353896" cy="544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00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DB347-CAD1-B927-D040-C0F961BB8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🛠️ Los 4 Métodos HTTP Fundamentales (CRUD)</a:t>
            </a:r>
            <a:endParaRPr lang="es-CL" dirty="0"/>
          </a:p>
        </p:txBody>
      </p:sp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7946D5B6-E532-875D-F491-42513579F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00" y="2234948"/>
            <a:ext cx="10878599" cy="360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10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CBD2E2F-94D5-628C-E4C3-942AD43D4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611" y="961861"/>
            <a:ext cx="7964777" cy="49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, Teams&#10;&#10;Descripción generada automáticamente">
            <a:extLst>
              <a:ext uri="{FF2B5EF4-FFF2-40B4-BE49-F238E27FC236}">
                <a16:creationId xmlns:a16="http://schemas.microsoft.com/office/drawing/2014/main" id="{FCDF72B8-85DA-3042-9906-82121567F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968" y="390589"/>
            <a:ext cx="8818063" cy="607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93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0D96237-92F8-DE59-0776-54D291641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25" y="1483434"/>
            <a:ext cx="10998549" cy="389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559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4323127-93BF-22EF-928F-B66E2B010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16" y="364095"/>
            <a:ext cx="6927368" cy="612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5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5F3CD4-07A9-8F20-719F-2A9EA703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Códigos de Estado HTTP Más Importantes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276314-AE75-21DA-0F79-02178A61C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numCol="2" anchor="ctr">
            <a:normAutofit/>
          </a:bodyPr>
          <a:lstStyle/>
          <a:p>
            <a:pPr marL="0" indent="0">
              <a:buNone/>
            </a:pPr>
            <a:r>
              <a:rPr lang="es-ES" sz="1700" b="1" i="0" dirty="0">
                <a:effectLst/>
                <a:latin typeface="-apple-system"/>
              </a:rPr>
              <a:t>✅ 2xx - Éxito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200 OK:</a:t>
            </a:r>
            <a:r>
              <a:rPr lang="es-ES" sz="1700" b="0" i="0" dirty="0">
                <a:effectLst/>
                <a:latin typeface="-apple-system"/>
              </a:rPr>
              <a:t> Petición exitosa con datos (GET exitoso)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201 </a:t>
            </a:r>
            <a:r>
              <a:rPr lang="es-ES" sz="1700" b="1" i="0" dirty="0" err="1">
                <a:effectLst/>
                <a:latin typeface="-apple-system"/>
              </a:rPr>
              <a:t>Created</a:t>
            </a:r>
            <a:r>
              <a:rPr lang="es-ES" sz="1700" b="1" i="0" dirty="0">
                <a:effectLst/>
                <a:latin typeface="-apple-system"/>
              </a:rPr>
              <a:t>:</a:t>
            </a:r>
            <a:r>
              <a:rPr lang="es-ES" sz="1700" b="0" i="0" dirty="0">
                <a:effectLst/>
                <a:latin typeface="-apple-system"/>
              </a:rPr>
              <a:t> Recurso creado exitosamente (POST exitoso)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204 No Content:</a:t>
            </a:r>
            <a:r>
              <a:rPr lang="es-ES" sz="1700" b="0" i="0" dirty="0">
                <a:effectLst/>
                <a:latin typeface="-apple-system"/>
              </a:rPr>
              <a:t> Éxito sin contenido (PUT/DELETE exitoso)</a:t>
            </a:r>
          </a:p>
          <a:p>
            <a:pPr marL="0" indent="0">
              <a:buNone/>
            </a:pPr>
            <a:r>
              <a:rPr lang="es-ES" sz="1700" b="1" i="0" dirty="0">
                <a:effectLst/>
                <a:latin typeface="-apple-system"/>
              </a:rPr>
              <a:t>❌ 4xx - Error del Cliente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400 </a:t>
            </a:r>
            <a:r>
              <a:rPr lang="es-ES" sz="1700" b="1" i="0" dirty="0" err="1">
                <a:effectLst/>
                <a:latin typeface="-apple-system"/>
              </a:rPr>
              <a:t>Bad</a:t>
            </a:r>
            <a:r>
              <a:rPr lang="es-ES" sz="1700" b="1" i="0" dirty="0">
                <a:effectLst/>
                <a:latin typeface="-apple-system"/>
              </a:rPr>
              <a:t> Request:</a:t>
            </a:r>
            <a:r>
              <a:rPr lang="es-ES" sz="1700" b="0" i="0" dirty="0">
                <a:effectLst/>
                <a:latin typeface="-apple-system"/>
              </a:rPr>
              <a:t> Datos inválidos en la petición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401 </a:t>
            </a:r>
            <a:r>
              <a:rPr lang="es-ES" sz="1700" b="1" i="0" dirty="0" err="1">
                <a:effectLst/>
                <a:latin typeface="-apple-system"/>
              </a:rPr>
              <a:t>Unauthorized</a:t>
            </a:r>
            <a:r>
              <a:rPr lang="es-ES" sz="1700" b="1" i="0" dirty="0">
                <a:effectLst/>
                <a:latin typeface="-apple-system"/>
              </a:rPr>
              <a:t>:</a:t>
            </a:r>
            <a:r>
              <a:rPr lang="es-ES" sz="1700" b="0" i="0" dirty="0">
                <a:effectLst/>
                <a:latin typeface="-apple-system"/>
              </a:rPr>
              <a:t> Falta autenticación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403 </a:t>
            </a:r>
            <a:r>
              <a:rPr lang="es-ES" sz="1700" b="1" i="0" dirty="0" err="1">
                <a:effectLst/>
                <a:latin typeface="-apple-system"/>
              </a:rPr>
              <a:t>Forbidden</a:t>
            </a:r>
            <a:r>
              <a:rPr lang="es-ES" sz="1700" b="1" i="0" dirty="0">
                <a:effectLst/>
                <a:latin typeface="-apple-system"/>
              </a:rPr>
              <a:t>:</a:t>
            </a:r>
            <a:r>
              <a:rPr lang="es-ES" sz="1700" b="0" i="0" dirty="0">
                <a:effectLst/>
                <a:latin typeface="-apple-system"/>
              </a:rPr>
              <a:t> Sin permisos para el recurso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404 </a:t>
            </a:r>
            <a:r>
              <a:rPr lang="es-ES" sz="1700" b="1" i="0" dirty="0" err="1">
                <a:effectLst/>
                <a:latin typeface="-apple-system"/>
              </a:rPr>
              <a:t>Not</a:t>
            </a:r>
            <a:r>
              <a:rPr lang="es-ES" sz="1700" b="1" i="0" dirty="0">
                <a:effectLst/>
                <a:latin typeface="-apple-system"/>
              </a:rPr>
              <a:t> </a:t>
            </a:r>
            <a:r>
              <a:rPr lang="es-ES" sz="1700" b="1" i="0" dirty="0" err="1">
                <a:effectLst/>
                <a:latin typeface="-apple-system"/>
              </a:rPr>
              <a:t>Found</a:t>
            </a:r>
            <a:r>
              <a:rPr lang="es-ES" sz="1700" b="1" i="0" dirty="0">
                <a:effectLst/>
                <a:latin typeface="-apple-system"/>
              </a:rPr>
              <a:t>:</a:t>
            </a:r>
            <a:r>
              <a:rPr lang="es-ES" sz="1700" b="0" i="0" dirty="0">
                <a:effectLst/>
                <a:latin typeface="-apple-system"/>
              </a:rPr>
              <a:t> Recurso no encontrado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409 </a:t>
            </a:r>
            <a:r>
              <a:rPr lang="es-ES" sz="1700" b="1" i="0" dirty="0" err="1">
                <a:effectLst/>
                <a:latin typeface="-apple-system"/>
              </a:rPr>
              <a:t>Conflict</a:t>
            </a:r>
            <a:r>
              <a:rPr lang="es-ES" sz="1700" b="1" i="0" dirty="0">
                <a:effectLst/>
                <a:latin typeface="-apple-system"/>
              </a:rPr>
              <a:t>:</a:t>
            </a:r>
            <a:r>
              <a:rPr lang="es-ES" sz="1700" b="0" i="0" dirty="0">
                <a:effectLst/>
                <a:latin typeface="-apple-system"/>
              </a:rPr>
              <a:t> Conflicto con el estado actual</a:t>
            </a:r>
          </a:p>
          <a:p>
            <a:pPr marL="0" indent="0">
              <a:buNone/>
            </a:pPr>
            <a:r>
              <a:rPr lang="es-ES" sz="1700" b="1" i="0" dirty="0">
                <a:effectLst/>
                <a:latin typeface="-apple-system"/>
              </a:rPr>
              <a:t>🔥 5xx - Error del Servidor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500 </a:t>
            </a:r>
            <a:r>
              <a:rPr lang="es-ES" sz="1700" b="1" i="0" dirty="0" err="1">
                <a:effectLst/>
                <a:latin typeface="-apple-system"/>
              </a:rPr>
              <a:t>Internal</a:t>
            </a:r>
            <a:r>
              <a:rPr lang="es-ES" sz="1700" b="1" i="0" dirty="0">
                <a:effectLst/>
                <a:latin typeface="-apple-system"/>
              </a:rPr>
              <a:t> Server Error:</a:t>
            </a:r>
            <a:r>
              <a:rPr lang="es-ES" sz="1700" b="0" i="0" dirty="0">
                <a:effectLst/>
                <a:latin typeface="-apple-system"/>
              </a:rPr>
              <a:t> Error interno del servidor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i="0" dirty="0">
                <a:effectLst/>
                <a:latin typeface="-apple-system"/>
              </a:rPr>
              <a:t>503 </a:t>
            </a:r>
            <a:r>
              <a:rPr lang="es-ES" sz="1700" b="1" i="0" dirty="0" err="1">
                <a:effectLst/>
                <a:latin typeface="-apple-system"/>
              </a:rPr>
              <a:t>Service</a:t>
            </a:r>
            <a:r>
              <a:rPr lang="es-ES" sz="1700" b="1" i="0" dirty="0">
                <a:effectLst/>
                <a:latin typeface="-apple-system"/>
              </a:rPr>
              <a:t> </a:t>
            </a:r>
            <a:r>
              <a:rPr lang="es-ES" sz="1700" b="1" i="0" dirty="0" err="1">
                <a:effectLst/>
                <a:latin typeface="-apple-system"/>
              </a:rPr>
              <a:t>Unavailable</a:t>
            </a:r>
            <a:r>
              <a:rPr lang="es-ES" sz="1700" b="1" i="0" dirty="0">
                <a:effectLst/>
                <a:latin typeface="-apple-system"/>
              </a:rPr>
              <a:t>:</a:t>
            </a:r>
            <a:r>
              <a:rPr lang="es-ES" sz="1700" b="0" i="0" dirty="0">
                <a:effectLst/>
                <a:latin typeface="-apple-system"/>
              </a:rPr>
              <a:t> Servicio temporalmente no disponible</a:t>
            </a:r>
          </a:p>
          <a:p>
            <a:endParaRPr lang="es-CL" sz="17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269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, Aplicación&#10;&#10;Descripción generada automáticamente con confianza media">
            <a:extLst>
              <a:ext uri="{FF2B5EF4-FFF2-40B4-BE49-F238E27FC236}">
                <a16:creationId xmlns:a16="http://schemas.microsoft.com/office/drawing/2014/main" id="{F8261599-F154-C74D-7C99-CDD80A95B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210" y="369799"/>
            <a:ext cx="7873579" cy="611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88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767CFBC2-5537-4A5A-1C01-A250A17F8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076" y="1319262"/>
            <a:ext cx="8409848" cy="42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36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AAF56-99F1-EEF5-00F5-370F9E8E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07"/>
            <a:ext cx="10515600" cy="696986"/>
          </a:xfrm>
        </p:spPr>
        <p:txBody>
          <a:bodyPr/>
          <a:lstStyle/>
          <a:p>
            <a:pPr algn="ctr"/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🧪 Herramientas para Probar 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-apple-system"/>
              </a:rPr>
              <a:t>APIs</a:t>
            </a:r>
            <a:endParaRPr lang="es-CL" dirty="0"/>
          </a:p>
        </p:txBody>
      </p:sp>
      <p:pic>
        <p:nvPicPr>
          <p:cNvPr id="5" name="Imagen 4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6255F931-201A-F94F-8C2F-9B9CDE116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379" y="1195755"/>
            <a:ext cx="6803241" cy="50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7657A-A32D-8A16-EECF-7A4EBCD1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788426"/>
          </a:xfrm>
        </p:spPr>
        <p:txBody>
          <a:bodyPr>
            <a:normAutofit/>
          </a:bodyPr>
          <a:lstStyle/>
          <a:p>
            <a:r>
              <a:rPr lang="es-CL" sz="3200" b="1" i="0" dirty="0">
                <a:solidFill>
                  <a:srgbClr val="000000"/>
                </a:solidFill>
                <a:effectLst/>
                <a:latin typeface="-apple-system"/>
              </a:rPr>
              <a:t>Integrando MVC + </a:t>
            </a:r>
            <a:r>
              <a:rPr lang="es-CL" sz="3200" b="1" i="0" dirty="0" err="1">
                <a:solidFill>
                  <a:srgbClr val="000000"/>
                </a:solidFill>
                <a:effectLst/>
                <a:latin typeface="-apple-system"/>
              </a:rPr>
              <a:t>Repository</a:t>
            </a:r>
            <a:r>
              <a:rPr lang="es-CL" sz="3200" b="1" i="0" dirty="0">
                <a:solidFill>
                  <a:srgbClr val="000000"/>
                </a:solidFill>
                <a:effectLst/>
                <a:latin typeface="-apple-system"/>
              </a:rPr>
              <a:t> + API - El Ecosistema Completo</a:t>
            </a:r>
            <a:endParaRPr lang="es-CL" sz="3200" dirty="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7D530488-03B1-BCC5-49CD-B2592EB2C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79" y="788426"/>
            <a:ext cx="9692639" cy="606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87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Descripción generada automáticamente con confianza media">
            <a:extLst>
              <a:ext uri="{FF2B5EF4-FFF2-40B4-BE49-F238E27FC236}">
                <a16:creationId xmlns:a16="http://schemas.microsoft.com/office/drawing/2014/main" id="{B65BCA86-39E1-A981-F469-9190BC994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66" y="1687293"/>
            <a:ext cx="10987067" cy="348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60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FCBC81C8-734C-094B-AA12-6D86D8822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29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1D18F26-08D0-75E9-CE46-7C9C88206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969" y="151175"/>
            <a:ext cx="7656061" cy="655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2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03A5E647-A375-1451-D7FC-9B8464C55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66309"/>
            <a:ext cx="10905066" cy="51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43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CF072-97E5-BB4B-B5CC-F9F4DC7B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🚀 Escalabilidad: Pensando en el Futuro</a:t>
            </a:r>
            <a:endParaRPr lang="es-CL" dirty="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AC0707FF-47FC-3D10-62A0-7CEE6D590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6287377" cy="4515480"/>
          </a:xfrm>
          <a:prstGeom prst="rect">
            <a:avLst/>
          </a:prstGeom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CA37C31C-7FB6-695A-ABEE-911632BA0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18185"/>
            <a:ext cx="2486372" cy="4267796"/>
          </a:xfrm>
          <a:prstGeom prst="rect">
            <a:avLst/>
          </a:prstGeom>
        </p:spPr>
      </p:pic>
      <p:pic>
        <p:nvPicPr>
          <p:cNvPr id="9" name="Imagen 8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94AB4B90-0F19-9279-954E-70E1C0E1E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89" y="2836821"/>
            <a:ext cx="3232734" cy="222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5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50B3F1-BB00-02F8-0BD7-A4D346A5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💡 Principios para Código Escalable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2B3D3B-6902-8538-7DC1-06D6697F3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s-CL" sz="2400" b="1" i="0" dirty="0">
                <a:effectLst/>
                <a:latin typeface="-apple-system"/>
              </a:rPr>
              <a:t>🔧 </a:t>
            </a:r>
            <a:r>
              <a:rPr lang="es-CL" sz="2400" b="1" i="0" dirty="0" err="1">
                <a:effectLst/>
                <a:latin typeface="-apple-system"/>
              </a:rPr>
              <a:t>Dependency</a:t>
            </a:r>
            <a:r>
              <a:rPr lang="es-CL" sz="2400" b="1" i="0" dirty="0">
                <a:effectLst/>
                <a:latin typeface="-apple-system"/>
              </a:rPr>
              <a:t> </a:t>
            </a:r>
            <a:r>
              <a:rPr lang="es-CL" sz="2400" b="1" i="0" dirty="0" err="1">
                <a:effectLst/>
                <a:latin typeface="-apple-system"/>
              </a:rPr>
              <a:t>Injection</a:t>
            </a:r>
            <a:r>
              <a:rPr lang="es-CL" sz="2400" b="1" i="0" dirty="0">
                <a:effectLst/>
                <a:latin typeface="-apple-system"/>
              </a:rPr>
              <a:t>:</a:t>
            </a:r>
            <a:r>
              <a:rPr lang="es-CL" sz="2400" b="0" i="0" dirty="0">
                <a:effectLst/>
                <a:latin typeface="-apple-system"/>
              </a:rPr>
              <a:t> Facilita testing y cambios</a:t>
            </a:r>
          </a:p>
          <a:p>
            <a:pPr>
              <a:buFont typeface="+mj-lt"/>
              <a:buAutoNum type="arabicPeriod"/>
            </a:pPr>
            <a:r>
              <a:rPr lang="es-CL" sz="2400" b="1" i="0" dirty="0">
                <a:effectLst/>
                <a:latin typeface="-apple-system"/>
              </a:rPr>
              <a:t>🗃️ </a:t>
            </a:r>
            <a:r>
              <a:rPr lang="es-CL" sz="2400" b="1" i="0" dirty="0" err="1">
                <a:effectLst/>
                <a:latin typeface="-apple-system"/>
              </a:rPr>
              <a:t>Repository</a:t>
            </a:r>
            <a:r>
              <a:rPr lang="es-CL" sz="2400" b="1" i="0" dirty="0">
                <a:effectLst/>
                <a:latin typeface="-apple-system"/>
              </a:rPr>
              <a:t> </a:t>
            </a:r>
            <a:r>
              <a:rPr lang="es-CL" sz="2400" b="1" i="0" dirty="0" err="1">
                <a:effectLst/>
                <a:latin typeface="-apple-system"/>
              </a:rPr>
              <a:t>Pattern</a:t>
            </a:r>
            <a:r>
              <a:rPr lang="es-CL" sz="2400" b="1" i="0" dirty="0">
                <a:effectLst/>
                <a:latin typeface="-apple-system"/>
              </a:rPr>
              <a:t>:</a:t>
            </a:r>
            <a:r>
              <a:rPr lang="es-CL" sz="2400" b="0" i="0" dirty="0">
                <a:effectLst/>
                <a:latin typeface="-apple-system"/>
              </a:rPr>
              <a:t> Abstrae acceso a datos</a:t>
            </a:r>
          </a:p>
          <a:p>
            <a:pPr>
              <a:buFont typeface="+mj-lt"/>
              <a:buAutoNum type="arabicPeriod"/>
            </a:pPr>
            <a:r>
              <a:rPr lang="es-CL" sz="2400" b="1" i="0" dirty="0">
                <a:effectLst/>
                <a:latin typeface="-apple-system"/>
              </a:rPr>
              <a:t>📋 </a:t>
            </a:r>
            <a:r>
              <a:rPr lang="es-CL" sz="2400" b="1" i="0" dirty="0" err="1">
                <a:effectLst/>
                <a:latin typeface="-apple-system"/>
              </a:rPr>
              <a:t>DTOs</a:t>
            </a:r>
            <a:r>
              <a:rPr lang="es-CL" sz="2400" b="1" i="0" dirty="0">
                <a:effectLst/>
                <a:latin typeface="-apple-system"/>
              </a:rPr>
              <a:t>:</a:t>
            </a:r>
            <a:r>
              <a:rPr lang="es-CL" sz="2400" b="0" i="0" dirty="0">
                <a:effectLst/>
                <a:latin typeface="-apple-system"/>
              </a:rPr>
              <a:t> Controla qué datos se exponen</a:t>
            </a:r>
          </a:p>
          <a:p>
            <a:pPr>
              <a:buFont typeface="+mj-lt"/>
              <a:buAutoNum type="arabicPeriod"/>
            </a:pPr>
            <a:r>
              <a:rPr lang="es-CL" sz="2400" b="1" i="0" dirty="0">
                <a:effectLst/>
                <a:latin typeface="-apple-system"/>
              </a:rPr>
              <a:t>🛡️ Validaciones:</a:t>
            </a:r>
            <a:r>
              <a:rPr lang="es-CL" sz="2400" b="0" i="0" dirty="0">
                <a:effectLst/>
                <a:latin typeface="-apple-system"/>
              </a:rPr>
              <a:t> Datos seguros en todas las capas</a:t>
            </a:r>
          </a:p>
          <a:p>
            <a:pPr>
              <a:buFont typeface="+mj-lt"/>
              <a:buAutoNum type="arabicPeriod"/>
            </a:pPr>
            <a:r>
              <a:rPr lang="es-CL" sz="2400" b="1" i="0" dirty="0">
                <a:effectLst/>
                <a:latin typeface="-apple-system"/>
              </a:rPr>
              <a:t>📖 Documentación:</a:t>
            </a:r>
            <a:r>
              <a:rPr lang="es-CL" sz="2400" b="0" i="0" dirty="0">
                <a:effectLst/>
                <a:latin typeface="-apple-system"/>
              </a:rPr>
              <a:t> </a:t>
            </a:r>
            <a:r>
              <a:rPr lang="es-CL" sz="2400" b="0" i="0" dirty="0" err="1">
                <a:effectLst/>
                <a:latin typeface="-apple-system"/>
              </a:rPr>
              <a:t>Swagger</a:t>
            </a:r>
            <a:r>
              <a:rPr lang="es-CL" sz="2400" b="0" i="0" dirty="0">
                <a:effectLst/>
                <a:latin typeface="-apple-system"/>
              </a:rPr>
              <a:t> para </a:t>
            </a:r>
            <a:r>
              <a:rPr lang="es-CL" sz="2400" b="0" i="0" dirty="0" err="1">
                <a:effectLst/>
                <a:latin typeface="-apple-system"/>
              </a:rPr>
              <a:t>APIs</a:t>
            </a:r>
            <a:r>
              <a:rPr lang="es-CL" sz="2400" b="0" i="0" dirty="0">
                <a:effectLst/>
                <a:latin typeface="-apple-system"/>
              </a:rPr>
              <a:t>, comentarios en código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640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644</Words>
  <Application>Microsoft Office PowerPoint</Application>
  <PresentationFormat>Panorámica</PresentationFormat>
  <Paragraphs>70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3" baseType="lpstr">
      <vt:lpstr>-apple-system</vt:lpstr>
      <vt:lpstr>Arial</vt:lpstr>
      <vt:lpstr>Calibri</vt:lpstr>
      <vt:lpstr>Calibri Light</vt:lpstr>
      <vt:lpstr>Tema de Office</vt:lpstr>
      <vt:lpstr>Programación por Capas (MVC)</vt:lpstr>
      <vt:lpstr>Fundamentos MVC y Arquitectura por Capas</vt:lpstr>
      <vt:lpstr>🔥 ¿Por qué Necesitamos Arquitectura por Capas?</vt:lpstr>
      <vt:lpstr>📚 El Problema del Crecimiento de Software</vt:lpstr>
      <vt:lpstr>Presentación de PowerPoint</vt:lpstr>
      <vt:lpstr>Presentación de PowerPoint</vt:lpstr>
      <vt:lpstr>🏛️ Los 3 Pilares de MVC</vt:lpstr>
      <vt:lpstr>🆚 Comparación: Antes vs Después de MVC</vt:lpstr>
      <vt:lpstr>Presentación de PowerPoint</vt:lpstr>
      <vt:lpstr>🎯 Puntos Clave</vt:lpstr>
      <vt:lpstr>Repository Pattern + ORM Fundamentals</vt:lpstr>
      <vt:lpstr>🔥 El Problema: ¿Cómo Conectamos con los Datos?</vt:lpstr>
      <vt:lpstr>Presentación de PowerPoint</vt:lpstr>
      <vt:lpstr>Presentación de PowerPoint</vt:lpstr>
      <vt:lpstr>🎯 Repository Pattern: La Solución Elegante</vt:lpstr>
      <vt:lpstr>Presentación de PowerPoint</vt:lpstr>
      <vt:lpstr>🏗️ Implementación del Repository Pattern</vt:lpstr>
      <vt:lpstr>Presentación de PowerPoint</vt:lpstr>
      <vt:lpstr>🎯 Visualización Completa: Tabla → SQL → ORM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💡 ¿Cuándo usar cada aproximación?</vt:lpstr>
      <vt:lpstr>Presentación de PowerPoint</vt:lpstr>
      <vt:lpstr>APIs REST - El Lenguaje Universal del Backend</vt:lpstr>
      <vt:lpstr>🔍 ¿Qué es una API REST?</vt:lpstr>
      <vt:lpstr>Presentación de PowerPoint</vt:lpstr>
      <vt:lpstr>Presentación de PowerPoint</vt:lpstr>
      <vt:lpstr>🛠️ Los 4 Métodos HTTP Fundamentales (CRUD)</vt:lpstr>
      <vt:lpstr>Presentación de PowerPoint</vt:lpstr>
      <vt:lpstr>Presentación de PowerPoint</vt:lpstr>
      <vt:lpstr>Presentación de PowerPoint</vt:lpstr>
      <vt:lpstr>Presentación de PowerPoint</vt:lpstr>
      <vt:lpstr>Códigos de Estado HTTP Más Importantes</vt:lpstr>
      <vt:lpstr>Presentación de PowerPoint</vt:lpstr>
      <vt:lpstr>Presentación de PowerPoint</vt:lpstr>
      <vt:lpstr>🧪 Herramientas para Probar APIs</vt:lpstr>
      <vt:lpstr>Integrando MVC + Repository + API - El Ecosistema Completo</vt:lpstr>
      <vt:lpstr>Presentación de PowerPoint</vt:lpstr>
      <vt:lpstr>Presentación de PowerPoint</vt:lpstr>
      <vt:lpstr>Presentación de PowerPoint</vt:lpstr>
      <vt:lpstr>Presentación de PowerPoint</vt:lpstr>
      <vt:lpstr>🚀 Escalabilidad: Pensando en el Futuro</vt:lpstr>
      <vt:lpstr>💡 Principios para Código Escalable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por Capas (MVC)</dc:title>
  <dc:creator>DIEGO MATIAS OBANDO AGUILERA</dc:creator>
  <cp:lastModifiedBy>DIEGO MATIAS OBANDO AGUILERA</cp:lastModifiedBy>
  <cp:revision>2</cp:revision>
  <dcterms:created xsi:type="dcterms:W3CDTF">2025-09-09T02:20:15Z</dcterms:created>
  <dcterms:modified xsi:type="dcterms:W3CDTF">2025-09-09T03:23:39Z</dcterms:modified>
</cp:coreProperties>
</file>